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60" r:id="rId3"/>
    <p:sldId id="257" r:id="rId4"/>
    <p:sldId id="259" r:id="rId5"/>
    <p:sldId id="258" r:id="rId6"/>
    <p:sldId id="261" r:id="rId7"/>
    <p:sldId id="262" r:id="rId8"/>
    <p:sldId id="265" r:id="rId9"/>
    <p:sldId id="263" r:id="rId10"/>
    <p:sldId id="277" r:id="rId11"/>
    <p:sldId id="264" r:id="rId12"/>
    <p:sldId id="271" r:id="rId13"/>
    <p:sldId id="276" r:id="rId14"/>
    <p:sldId id="278" r:id="rId15"/>
    <p:sldId id="279" r:id="rId16"/>
    <p:sldId id="266" r:id="rId17"/>
    <p:sldId id="267" r:id="rId18"/>
    <p:sldId id="268" r:id="rId19"/>
    <p:sldId id="269" r:id="rId20"/>
    <p:sldId id="270" r:id="rId21"/>
    <p:sldId id="283" r:id="rId22"/>
    <p:sldId id="272" r:id="rId23"/>
    <p:sldId id="275" r:id="rId24"/>
    <p:sldId id="274" r:id="rId25"/>
    <p:sldId id="273" r:id="rId26"/>
    <p:sldId id="280" r:id="rId27"/>
    <p:sldId id="285" r:id="rId28"/>
    <p:sldId id="286" r:id="rId29"/>
    <p:sldId id="291" r:id="rId30"/>
    <p:sldId id="282" r:id="rId31"/>
    <p:sldId id="288" r:id="rId32"/>
    <p:sldId id="289" r:id="rId33"/>
    <p:sldId id="290" r:id="rId34"/>
    <p:sldId id="292" r:id="rId35"/>
    <p:sldId id="293" r:id="rId3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F02A4859-7863-4C56-985A-FDFDC0AA0942}">
          <p14:sldIdLst>
            <p14:sldId id="256"/>
            <p14:sldId id="260"/>
            <p14:sldId id="257"/>
          </p14:sldIdLst>
        </p14:section>
        <p14:section name="ezZigSim" id="{DB3233A1-C967-48BF-98C8-A4D3AFC50D0C}">
          <p14:sldIdLst>
            <p14:sldId id="259"/>
            <p14:sldId id="258"/>
            <p14:sldId id="261"/>
            <p14:sldId id="262"/>
            <p14:sldId id="265"/>
            <p14:sldId id="263"/>
            <p14:sldId id="277"/>
            <p14:sldId id="264"/>
          </p14:sldIdLst>
        </p14:section>
        <p14:section name="ezGyro" id="{77A717E4-49A6-48A6-B27C-7CBCD25015B0}">
          <p14:sldIdLst>
            <p14:sldId id="271"/>
            <p14:sldId id="276"/>
            <p14:sldId id="278"/>
            <p14:sldId id="279"/>
          </p14:sldIdLst>
        </p14:section>
        <p14:section name="ezCamera" id="{76FA6720-8E5A-4618-B71E-48BF6FE02A07}">
          <p14:sldIdLst>
            <p14:sldId id="266"/>
            <p14:sldId id="267"/>
            <p14:sldId id="268"/>
            <p14:sldId id="269"/>
            <p14:sldId id="270"/>
            <p14:sldId id="283"/>
          </p14:sldIdLst>
        </p14:section>
        <p14:section name="OpenAL" id="{154A0872-D524-4299-8F55-2B12509D14E1}">
          <p14:sldIdLst>
            <p14:sldId id="272"/>
            <p14:sldId id="275"/>
            <p14:sldId id="274"/>
          </p14:sldIdLst>
        </p14:section>
        <p14:section name="InertiaCube" id="{EE842FA1-89B4-4EC6-AD65-370A2CB9729D}">
          <p14:sldIdLst>
            <p14:sldId id="273"/>
            <p14:sldId id="280"/>
            <p14:sldId id="285"/>
            <p14:sldId id="286"/>
          </p14:sldIdLst>
        </p14:section>
        <p14:section name="Arduino" id="{4DC4AA7A-1C4B-44D7-AB30-EDF512678642}">
          <p14:sldIdLst>
            <p14:sldId id="291"/>
            <p14:sldId id="282"/>
            <p14:sldId id="288"/>
            <p14:sldId id="289"/>
            <p14:sldId id="290"/>
          </p14:sldIdLst>
        </p14:section>
        <p14:section name="ezImage" id="{D56EAD97-19AF-4902-B3DD-B99C3BE5E612}">
          <p14:sldIdLst>
            <p14:sldId id="292"/>
            <p14:sldId id="293"/>
          </p14:sldIdLst>
        </p14:section>
        <p14:section name="タイトルなしのセクション" id="{A8706D5A-D9E4-4A1F-850B-17A676DCE7F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5013" autoAdjust="0"/>
  </p:normalViewPr>
  <p:slideViewPr>
    <p:cSldViewPr snapToGrid="0">
      <p:cViewPr varScale="1">
        <p:scale>
          <a:sx n="68" d="100"/>
          <a:sy n="68" d="100"/>
        </p:scale>
        <p:origin x="7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5944C-905A-4260-9CFA-790625AA5B70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73E7B-6D2A-4CEE-A569-7BB4DDBE75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337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73E7B-6D2A-4CEE-A569-7BB4DDBE75E7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561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ELECOM 5MP Webcam</a:t>
            </a:r>
          </a:p>
          <a:p>
            <a:r>
              <a:rPr kumimoji="1" lang="en-US" altLang="ja-JP" dirty="0" smtClean="0"/>
              <a:t>IPEVO V4K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73E7B-6D2A-4CEE-A569-7BB4DDBE75E7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56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73E7B-6D2A-4CEE-A569-7BB4DDBE75E7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181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358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667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Ø"/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02179"/>
            <a:ext cx="10515600" cy="5074784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 sz="1600"/>
            </a:lvl1pPr>
            <a:lvl2pPr marL="452438" marR="0" indent="-276225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sz="1400"/>
            </a:lvl2pPr>
            <a:lvl3pPr marL="582613" marR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200"/>
            </a:lvl3pPr>
            <a:lvl4pPr marL="717550" marR="0" indent="-176213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/>
            </a:lvl4pPr>
            <a:lvl5pPr marL="895350" marR="0" indent="-1778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マスター テキストの書式設定</a:t>
            </a:r>
          </a:p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レベル</a:t>
            </a:r>
          </a:p>
          <a:p>
            <a:pPr marL="2286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 </a:t>
            </a: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レベル</a:t>
            </a:r>
          </a:p>
          <a:p>
            <a:pPr marL="2286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</a:t>
            </a: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レベル</a:t>
            </a:r>
          </a:p>
          <a:p>
            <a:pPr marL="2286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 </a:t>
            </a: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レベル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009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21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57955"/>
            <a:ext cx="5181600" cy="501900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157955"/>
            <a:ext cx="5181600" cy="501900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48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5743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185864"/>
            <a:ext cx="5157787" cy="485620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1834792"/>
            <a:ext cx="5157787" cy="435487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185864"/>
            <a:ext cx="5183188" cy="485620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1834792"/>
            <a:ext cx="5183188" cy="435487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01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663677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1268361"/>
            <a:ext cx="6172200" cy="48374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図プレースホルダー 2"/>
          <p:cNvSpPr>
            <a:spLocks noGrp="1"/>
          </p:cNvSpPr>
          <p:nvPr>
            <p:ph type="pic" idx="13"/>
          </p:nvPr>
        </p:nvSpPr>
        <p:spPr>
          <a:xfrm>
            <a:off x="838200" y="1276503"/>
            <a:ext cx="4176252" cy="482932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図を追加</a:t>
            </a:r>
          </a:p>
        </p:txBody>
      </p:sp>
    </p:spTree>
    <p:extLst>
      <p:ext uri="{BB962C8B-B14F-4D97-AF65-F5344CB8AC3E}">
        <p14:creationId xmlns:p14="http://schemas.microsoft.com/office/powerpoint/2010/main" val="237572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551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06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66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764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44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106905"/>
            <a:ext cx="10515600" cy="5070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01FD2-93C9-462C-B790-74FC1E2EA476}" type="datetimeFigureOut">
              <a:rPr kumimoji="1" lang="ja-JP" altLang="en-US" smtClean="0"/>
              <a:t>2025/9/15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4C590-8119-4C83-94EB-3F36309483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33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57200" indent="-457200" algn="l" defTabSz="914400" rtl="0" eaLnBrk="1" latinLnBrk="0" hangingPunct="1">
        <a:lnSpc>
          <a:spcPct val="90000"/>
        </a:lnSpc>
        <a:spcBef>
          <a:spcPct val="0"/>
        </a:spcBef>
        <a:buFont typeface="Wingdings" panose="05000000000000000000" pitchFamily="2" charset="2"/>
        <a:buChar char="Ø"/>
        <a:defRPr kumimoji="1" sz="32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200"/>
        </a:spcBef>
        <a:buFont typeface="ＭＳ Ｐゴシック" panose="020B0600070205080204" pitchFamily="50" charset="-128"/>
        <a:buChar char="▼"/>
        <a:defRPr kumimoji="1" sz="1600" b="1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1pPr>
      <a:lvl2pPr marL="452438" indent="-276225" algn="l" defTabSz="914400" rtl="0" eaLnBrk="1" latinLnBrk="0" hangingPunct="1">
        <a:lnSpc>
          <a:spcPct val="100000"/>
        </a:lnSpc>
        <a:spcBef>
          <a:spcPts val="200"/>
        </a:spcBef>
        <a:buFont typeface="Wingdings" panose="05000000000000000000" pitchFamily="2" charset="2"/>
        <a:buChar char="u"/>
        <a:defRPr kumimoji="1" sz="16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2pPr>
      <a:lvl3pPr marL="582613" indent="-228600" algn="l" defTabSz="914400" rtl="0" eaLnBrk="1" latinLnBrk="0" hangingPunct="1">
        <a:lnSpc>
          <a:spcPct val="100000"/>
        </a:lnSpc>
        <a:spcBef>
          <a:spcPts val="200"/>
        </a:spcBef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3pPr>
      <a:lvl4pPr marL="717550" indent="-176213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4pPr>
      <a:lvl5pPr marL="895350" indent="-177800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5.xml"/><Relationship Id="rId5" Type="http://schemas.openxmlformats.org/officeDocument/2006/relationships/slide" Target="slide22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al.org/download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iVR</a:t>
            </a:r>
            <a:r>
              <a:rPr kumimoji="1" lang="ja-JP" altLang="en-US" dirty="0"/>
              <a:t>基本プログラム</a:t>
            </a:r>
            <a:r>
              <a:rPr kumimoji="1" lang="en-US" altLang="ja-JP" dirty="0"/>
              <a:t/>
            </a:r>
            <a:br>
              <a:rPr kumimoji="1" lang="en-US" altLang="ja-JP" dirty="0"/>
            </a:br>
            <a:r>
              <a:rPr lang="ja-JP" altLang="en-US" dirty="0"/>
              <a:t>オプション機能の使い方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285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メニュー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>
                <a:hlinkClick r:id="rId2" action="ppaction://hlinksldjump"/>
              </a:rPr>
              <a:t>iPhone</a:t>
            </a:r>
            <a:r>
              <a:rPr lang="ja-JP" altLang="en-US" dirty="0">
                <a:hlinkClick r:id="rId2" action="ppaction://hlinksldjump"/>
              </a:rPr>
              <a:t>のセンサを使う～</a:t>
            </a:r>
            <a:r>
              <a:rPr kumimoji="1" lang="en-US" altLang="ja-JP" dirty="0" err="1">
                <a:hlinkClick r:id="rId2" action="ppaction://hlinksldjump"/>
              </a:rPr>
              <a:t>ezZigSim</a:t>
            </a:r>
            <a:endParaRPr kumimoji="1" lang="en-US" altLang="ja-JP" dirty="0"/>
          </a:p>
          <a:p>
            <a:r>
              <a:rPr lang="en-US" altLang="ja-JP" dirty="0">
                <a:hlinkClick r:id="rId3" action="ppaction://hlinksldjump"/>
              </a:rPr>
              <a:t>PC</a:t>
            </a:r>
            <a:r>
              <a:rPr lang="ja-JP" altLang="en-US" dirty="0">
                <a:hlinkClick r:id="rId3" action="ppaction://hlinksldjump"/>
              </a:rPr>
              <a:t>のカメラを使う～</a:t>
            </a:r>
            <a:r>
              <a:rPr lang="en-US" altLang="ja-JP" dirty="0" err="1">
                <a:hlinkClick r:id="rId3" action="ppaction://hlinksldjump"/>
              </a:rPr>
              <a:t>ezCamera</a:t>
            </a:r>
            <a:endParaRPr lang="en-US" altLang="ja-JP" dirty="0"/>
          </a:p>
          <a:p>
            <a:r>
              <a:rPr lang="ja-JP" altLang="en-US" dirty="0">
                <a:hlinkClick r:id="rId4" action="ppaction://hlinksldjump"/>
              </a:rPr>
              <a:t>ジャイロセンサを使う～</a:t>
            </a:r>
            <a:r>
              <a:rPr lang="en-US" altLang="ja-JP" dirty="0" err="1">
                <a:hlinkClick r:id="rId4" action="ppaction://hlinksldjump"/>
              </a:rPr>
              <a:t>ezGyro</a:t>
            </a:r>
            <a:endParaRPr lang="en-US" altLang="ja-JP" dirty="0"/>
          </a:p>
          <a:p>
            <a:r>
              <a:rPr lang="ja-JP" altLang="en-US" dirty="0">
                <a:hlinkClick r:id="rId5" action="ppaction://hlinksldjump"/>
              </a:rPr>
              <a:t>サウンドを使う～</a:t>
            </a:r>
            <a:r>
              <a:rPr lang="en-US" altLang="ja-JP" dirty="0" err="1" smtClean="0">
                <a:hlinkClick r:id="rId5" action="ppaction://hlinksldjump"/>
              </a:rPr>
              <a:t>OpenAL</a:t>
            </a:r>
            <a:endParaRPr lang="en-US" altLang="ja-JP" dirty="0" smtClean="0"/>
          </a:p>
          <a:p>
            <a:r>
              <a:rPr lang="ja-JP" altLang="en-US" dirty="0" smtClean="0"/>
              <a:t>画像を取り扱う～</a:t>
            </a:r>
            <a:r>
              <a:rPr lang="en-US" altLang="ja-JP" dirty="0" err="1" smtClean="0"/>
              <a:t>ezImage</a:t>
            </a:r>
            <a:endParaRPr lang="en-US" altLang="ja-JP" dirty="0" smtClean="0"/>
          </a:p>
          <a:p>
            <a:r>
              <a:rPr lang="en-US" altLang="ja-JP" dirty="0">
                <a:hlinkClick r:id="rId6" action="ppaction://hlinksldjump"/>
              </a:rPr>
              <a:t>InertiaCube</a:t>
            </a:r>
            <a:r>
              <a:rPr lang="ja-JP" altLang="en-US" dirty="0" smtClean="0">
                <a:hlinkClick r:id="rId6" action="ppaction://hlinksldjump"/>
              </a:rPr>
              <a:t>を使う～</a:t>
            </a:r>
            <a:r>
              <a:rPr lang="en-US" altLang="ja-JP" dirty="0" smtClean="0">
                <a:hlinkClick r:id="rId6" action="ppaction://hlinksldjump"/>
              </a:rPr>
              <a:t>gyro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79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49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iPhone</a:t>
            </a:r>
            <a:r>
              <a:rPr kumimoji="1" lang="ja-JP" altLang="en-US" dirty="0"/>
              <a:t>のセンサを使う～</a:t>
            </a:r>
            <a:r>
              <a:rPr kumimoji="1" lang="en-US" altLang="ja-JP" dirty="0" err="1"/>
              <a:t>ezZigSim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※Android</a:t>
            </a:r>
            <a:r>
              <a:rPr kumimoji="1" lang="ja-JP" altLang="en-US" dirty="0" err="1"/>
              <a:t>には</a:t>
            </a:r>
            <a:r>
              <a:rPr kumimoji="1" lang="ja-JP" altLang="en-US" dirty="0"/>
              <a:t>対応していません</a:t>
            </a:r>
          </a:p>
        </p:txBody>
      </p:sp>
    </p:spTree>
    <p:extLst>
      <p:ext uri="{BB962C8B-B14F-4D97-AF65-F5344CB8AC3E}">
        <p14:creationId xmlns:p14="http://schemas.microsoft.com/office/powerpoint/2010/main" val="77726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iPhone </a:t>
            </a:r>
            <a:r>
              <a:rPr kumimoji="1" lang="en-US" altLang="ja-JP" dirty="0" smtClean="0"/>
              <a:t>ZIGSIM </a:t>
            </a:r>
            <a:r>
              <a:rPr kumimoji="1" lang="ja-JP" altLang="en-US" dirty="0"/>
              <a:t>アプ</a:t>
            </a:r>
            <a:r>
              <a:rPr lang="ja-JP" altLang="en-US" dirty="0" err="1"/>
              <a:t>り</a:t>
            </a:r>
            <a:r>
              <a:rPr kumimoji="1" lang="ja-JP" altLang="en-US" dirty="0" err="1"/>
              <a:t>の</a:t>
            </a:r>
            <a:r>
              <a:rPr kumimoji="1" lang="ja-JP" altLang="en-US" dirty="0"/>
              <a:t>準備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iPhone</a:t>
            </a:r>
            <a:r>
              <a:rPr lang="ja-JP" altLang="en-US" dirty="0"/>
              <a:t>を</a:t>
            </a:r>
            <a:r>
              <a:rPr lang="ja-JP" altLang="en-US" dirty="0">
                <a:solidFill>
                  <a:srgbClr val="FF0000"/>
                </a:solidFill>
              </a:rPr>
              <a:t>学内</a:t>
            </a:r>
            <a:r>
              <a:rPr lang="en-US" altLang="ja-JP" dirty="0" err="1">
                <a:solidFill>
                  <a:srgbClr val="FF0000"/>
                </a:solidFill>
              </a:rPr>
              <a:t>WiFi</a:t>
            </a:r>
            <a:r>
              <a:rPr lang="ja-JP" altLang="en-US" dirty="0">
                <a:solidFill>
                  <a:srgbClr val="FF0000"/>
                </a:solidFill>
              </a:rPr>
              <a:t>に接続</a:t>
            </a:r>
            <a:r>
              <a:rPr lang="ja-JP" altLang="en-US" dirty="0"/>
              <a:t>する（重要）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iPhone</a:t>
            </a:r>
            <a:r>
              <a:rPr kumimoji="1" lang="ja-JP" altLang="en-US" dirty="0"/>
              <a:t>に </a:t>
            </a:r>
            <a:r>
              <a:rPr lang="en-US" altLang="ja-JP" dirty="0" smtClean="0">
                <a:solidFill>
                  <a:srgbClr val="FF0000"/>
                </a:solidFill>
              </a:rPr>
              <a:t>ZIGSIM </a:t>
            </a:r>
            <a:r>
              <a:rPr lang="ja-JP" altLang="en-US" dirty="0">
                <a:solidFill>
                  <a:srgbClr val="FF0000"/>
                </a:solidFill>
              </a:rPr>
              <a:t>アプリをインストール</a:t>
            </a:r>
            <a:r>
              <a:rPr lang="ja-JP" altLang="en-US" dirty="0"/>
              <a:t>する（無料・広告・課金なし）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Setting</a:t>
            </a:r>
            <a:r>
              <a:rPr lang="ja-JP" altLang="en-US" dirty="0"/>
              <a:t>（右下の歯車アイコン）で右図のように設定する</a:t>
            </a:r>
            <a:endParaRPr lang="en-US" altLang="ja-JP" dirty="0"/>
          </a:p>
          <a:p>
            <a:pPr lvl="1"/>
            <a:r>
              <a:rPr lang="en-US" altLang="ja-JP" dirty="0"/>
              <a:t>DATA DESTINATION: OTHER APP</a:t>
            </a:r>
          </a:p>
          <a:p>
            <a:pPr lvl="1"/>
            <a:r>
              <a:rPr lang="en-US" altLang="ja-JP" dirty="0"/>
              <a:t>PROTOCOL: UDP</a:t>
            </a:r>
          </a:p>
          <a:p>
            <a:pPr lvl="1"/>
            <a:r>
              <a:rPr lang="en-US" altLang="ja-JP" dirty="0"/>
              <a:t>IP ADDRESS: </a:t>
            </a:r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en-US" altLang="ja-JP" dirty="0" err="1">
                <a:solidFill>
                  <a:srgbClr val="FF0000"/>
                </a:solidFill>
              </a:rPr>
              <a:t>iVR</a:t>
            </a:r>
            <a:r>
              <a:rPr lang="ja-JP" altLang="en-US" dirty="0">
                <a:solidFill>
                  <a:srgbClr val="FF0000"/>
                </a:solidFill>
              </a:rPr>
              <a:t>プログラムを起動する</a:t>
            </a:r>
            <a:r>
              <a:rPr lang="en-US" altLang="ja-JP" dirty="0">
                <a:solidFill>
                  <a:srgbClr val="FF0000"/>
                </a:solidFill>
              </a:rPr>
              <a:t>PC</a:t>
            </a:r>
            <a:r>
              <a:rPr lang="ja-JP" altLang="en-US" dirty="0">
                <a:solidFill>
                  <a:srgbClr val="FF0000"/>
                </a:solidFill>
              </a:rPr>
              <a:t>のアドレス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en-US" altLang="ja-JP" dirty="0"/>
              <a:t>PORT NUMBER: 50000</a:t>
            </a:r>
          </a:p>
          <a:p>
            <a:pPr lvl="1"/>
            <a:r>
              <a:rPr lang="en-US" altLang="ja-JP" dirty="0"/>
              <a:t>MESSAGE FORMAT: JSON</a:t>
            </a:r>
          </a:p>
          <a:p>
            <a:pPr lvl="1"/>
            <a:r>
              <a:rPr lang="en-US" altLang="ja-JP" dirty="0"/>
              <a:t>MESSAGE RETE(PER SEC): 30</a:t>
            </a:r>
            <a:r>
              <a:rPr lang="ja-JP" altLang="en-US" dirty="0"/>
              <a:t>（</a:t>
            </a:r>
            <a:r>
              <a:rPr lang="en-US" altLang="ja-JP" dirty="0"/>
              <a:t>※</a:t>
            </a:r>
            <a:r>
              <a:rPr lang="ja-JP" altLang="en-US" dirty="0"/>
              <a:t>ひとまず）</a:t>
            </a:r>
            <a:endParaRPr lang="en-US" altLang="ja-JP" dirty="0"/>
          </a:p>
          <a:p>
            <a:pPr lvl="1"/>
            <a:r>
              <a:rPr lang="en-US" altLang="ja-JP" dirty="0"/>
              <a:t>DEVICE UUID: </a:t>
            </a:r>
            <a:r>
              <a:rPr lang="ja-JP" altLang="en-US" dirty="0"/>
              <a:t>（設定不要）</a:t>
            </a:r>
            <a:endParaRPr lang="en-US" altLang="ja-JP" dirty="0"/>
          </a:p>
          <a:p>
            <a:pPr lvl="1"/>
            <a:r>
              <a:rPr lang="en-US" altLang="ja-JP" dirty="0"/>
              <a:t>COMPASS ANGLE: </a:t>
            </a:r>
            <a:r>
              <a:rPr lang="en-US" altLang="ja-JP" dirty="0">
                <a:solidFill>
                  <a:srgbClr val="FF0000"/>
                </a:solidFill>
              </a:rPr>
              <a:t>FACE UP</a:t>
            </a:r>
          </a:p>
          <a:p>
            <a:pPr lvl="1"/>
            <a:r>
              <a:rPr lang="en-US" altLang="ja-JP" dirty="0"/>
              <a:t>BEACON: </a:t>
            </a:r>
            <a:r>
              <a:rPr lang="ja-JP" altLang="en-US" dirty="0"/>
              <a:t>（設定不要）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en-US" altLang="ja-JP" dirty="0">
                <a:solidFill>
                  <a:srgbClr val="FF0000"/>
                </a:solidFill>
              </a:rPr>
              <a:t>※IP ADDRESS</a:t>
            </a:r>
            <a:r>
              <a:rPr kumimoji="1" lang="ja-JP" altLang="en-US" dirty="0">
                <a:solidFill>
                  <a:srgbClr val="FF0000"/>
                </a:solidFill>
              </a:rPr>
              <a:t>の調べ方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lvl="1"/>
            <a:r>
              <a:rPr lang="en-US" altLang="ja-JP" dirty="0" err="1">
                <a:solidFill>
                  <a:srgbClr val="FF0000"/>
                </a:solidFill>
              </a:rPr>
              <a:t>cmd</a:t>
            </a:r>
            <a:r>
              <a:rPr lang="ja-JP" altLang="en-US" dirty="0"/>
              <a:t>（コマンドプロンプトを起動）</a:t>
            </a:r>
            <a:endParaRPr lang="en-US" altLang="ja-JP" dirty="0"/>
          </a:p>
          <a:p>
            <a:pPr lvl="1"/>
            <a:r>
              <a:rPr kumimoji="1" lang="en-US" altLang="ja-JP" dirty="0">
                <a:solidFill>
                  <a:srgbClr val="FF0000"/>
                </a:solidFill>
              </a:rPr>
              <a:t>Ipconfig</a:t>
            </a:r>
            <a:r>
              <a:rPr lang="ja-JP" altLang="en-US" dirty="0"/>
              <a:t>と入力</a:t>
            </a:r>
            <a:endParaRPr lang="en-US" altLang="ja-JP" dirty="0"/>
          </a:p>
          <a:p>
            <a:pPr lvl="1"/>
            <a:r>
              <a:rPr kumimoji="1" lang="en-US" altLang="ja-JP" dirty="0">
                <a:solidFill>
                  <a:srgbClr val="FF0000"/>
                </a:solidFill>
              </a:rPr>
              <a:t>Ipv4</a:t>
            </a:r>
            <a:r>
              <a:rPr lang="ja-JP" altLang="en-US" dirty="0"/>
              <a:t>の項目が</a:t>
            </a:r>
            <a:r>
              <a:rPr lang="en-US" altLang="ja-JP" dirty="0"/>
              <a:t>IP</a:t>
            </a:r>
            <a:r>
              <a:rPr lang="ja-JP" altLang="en-US" dirty="0"/>
              <a:t>アドレス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627" y="0"/>
            <a:ext cx="3163373" cy="6858000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9937820" y="4424624"/>
            <a:ext cx="1369925" cy="1708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691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ZIG SIM</a:t>
            </a:r>
            <a:r>
              <a:rPr kumimoji="1" lang="ja-JP" altLang="en-US" dirty="0"/>
              <a:t>で使いたいセンサを選択する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Sensor</a:t>
            </a:r>
            <a:r>
              <a:rPr lang="ja-JP" altLang="en-US" dirty="0"/>
              <a:t>（左下のアイコン）で、使いたいセンサをチェックする</a:t>
            </a:r>
            <a:endParaRPr lang="en-US" altLang="ja-JP" dirty="0"/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ACCEL: 3</a:t>
            </a:r>
            <a:r>
              <a:rPr lang="ja-JP" altLang="en-US" dirty="0">
                <a:solidFill>
                  <a:srgbClr val="00B050"/>
                </a:solidFill>
              </a:rPr>
              <a:t>軸加速度センサ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GRAVITY: </a:t>
            </a:r>
            <a:r>
              <a:rPr lang="ja-JP" alt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重力方向</a:t>
            </a:r>
            <a:r>
              <a:rPr lang="ja-JP" alt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ベクトル★必須項目</a:t>
            </a:r>
            <a:endParaRPr lang="en-US" altLang="ja-JP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GYRO: 3</a:t>
            </a:r>
            <a:r>
              <a:rPr lang="ja-JP" altLang="en-US" dirty="0">
                <a:solidFill>
                  <a:srgbClr val="00B050"/>
                </a:solidFill>
              </a:rPr>
              <a:t>軸ジャイロ</a:t>
            </a:r>
            <a:r>
              <a:rPr lang="ja-JP" altLang="en-US" dirty="0" smtClean="0">
                <a:solidFill>
                  <a:srgbClr val="00B050"/>
                </a:solidFill>
              </a:rPr>
              <a:t>（角速度</a:t>
            </a:r>
            <a:r>
              <a:rPr lang="ja-JP" altLang="en-US" dirty="0">
                <a:solidFill>
                  <a:srgbClr val="00B050"/>
                </a:solidFill>
              </a:rPr>
              <a:t>）センサ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QUATERNION: </a:t>
            </a:r>
            <a:r>
              <a:rPr lang="ja-JP" alt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クォータニオン姿勢</a:t>
            </a:r>
            <a:r>
              <a:rPr lang="ja-JP" alt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データ★必須項目</a:t>
            </a:r>
            <a:endParaRPr lang="en-US" altLang="ja-JP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ja-JP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COMPASS: </a:t>
            </a:r>
            <a:r>
              <a:rPr lang="ja-JP" alt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方位</a:t>
            </a:r>
            <a:r>
              <a:rPr lang="ja-JP" alt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角★必須項目</a:t>
            </a:r>
            <a:endParaRPr lang="en-US" altLang="ja-JP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PRESSURE: </a:t>
            </a:r>
            <a:r>
              <a:rPr lang="ja-JP" altLang="en-US" dirty="0">
                <a:solidFill>
                  <a:srgbClr val="00B050"/>
                </a:solidFill>
              </a:rPr>
              <a:t>高度・気圧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GPS: </a:t>
            </a:r>
            <a:r>
              <a:rPr lang="ja-JP" altLang="en-US" dirty="0">
                <a:solidFill>
                  <a:srgbClr val="00B050"/>
                </a:solidFill>
              </a:rPr>
              <a:t>緯度・経度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2D TOUCH: </a:t>
            </a:r>
            <a:r>
              <a:rPr lang="ja-JP" altLang="en-US" dirty="0">
                <a:solidFill>
                  <a:srgbClr val="00B050"/>
                </a:solidFill>
              </a:rPr>
              <a:t>画面をタッチした座標（最大</a:t>
            </a:r>
            <a:r>
              <a:rPr lang="en-US" altLang="ja-JP" dirty="0">
                <a:solidFill>
                  <a:srgbClr val="00B050"/>
                </a:solidFill>
              </a:rPr>
              <a:t>5</a:t>
            </a:r>
            <a:r>
              <a:rPr lang="ja-JP" altLang="en-US" dirty="0">
                <a:solidFill>
                  <a:srgbClr val="00B050"/>
                </a:solidFill>
              </a:rPr>
              <a:t>か所まで）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kumimoji="1" lang="en-US" altLang="ja-JP" dirty="0">
                <a:solidFill>
                  <a:srgbClr val="00B050"/>
                </a:solidFill>
              </a:rPr>
              <a:t>TOUCH RADIUS: </a:t>
            </a:r>
            <a:r>
              <a:rPr kumimoji="1" lang="ja-JP" altLang="en-US" dirty="0">
                <a:solidFill>
                  <a:srgbClr val="00B050"/>
                </a:solidFill>
              </a:rPr>
              <a:t>画面をタッチした指の接触面積（最大</a:t>
            </a:r>
            <a:r>
              <a:rPr kumimoji="1" lang="en-US" altLang="ja-JP" dirty="0">
                <a:solidFill>
                  <a:srgbClr val="00B050"/>
                </a:solidFill>
              </a:rPr>
              <a:t>5</a:t>
            </a:r>
            <a:r>
              <a:rPr kumimoji="1" lang="ja-JP" altLang="en-US" dirty="0">
                <a:solidFill>
                  <a:srgbClr val="00B050"/>
                </a:solidFill>
              </a:rPr>
              <a:t>か所まで）</a:t>
            </a:r>
            <a:endParaRPr kumimoji="1"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chemeClr val="bg1">
                    <a:lumMod val="50000"/>
                  </a:schemeClr>
                </a:solidFill>
              </a:rPr>
              <a:t>BEACON: </a:t>
            </a:r>
            <a:r>
              <a:rPr lang="ja-JP" altLang="en-US" dirty="0">
                <a:solidFill>
                  <a:schemeClr val="bg1">
                    <a:lumMod val="50000"/>
                  </a:schemeClr>
                </a:solidFill>
              </a:rPr>
              <a:t>未対応</a:t>
            </a:r>
            <a:endParaRPr lang="en-US" altLang="ja-JP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PROXIMITY MONITOR: </a:t>
            </a: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未対応</a:t>
            </a:r>
            <a:endParaRPr kumimoji="1" lang="en-US" altLang="ja-JP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ja-JP" dirty="0">
                <a:solidFill>
                  <a:schemeClr val="bg1">
                    <a:lumMod val="50000"/>
                  </a:schemeClr>
                </a:solidFill>
              </a:rPr>
              <a:t>MIC LEVEL: </a:t>
            </a:r>
            <a:r>
              <a:rPr lang="ja-JP" altLang="en-US" dirty="0">
                <a:solidFill>
                  <a:schemeClr val="bg1">
                    <a:lumMod val="50000"/>
                  </a:schemeClr>
                </a:solidFill>
              </a:rPr>
              <a:t>未対応</a:t>
            </a:r>
            <a:endParaRPr lang="en-US" altLang="ja-JP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REMOTE CONTROL: </a:t>
            </a: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未対応</a:t>
            </a:r>
            <a:endParaRPr kumimoji="1" lang="en-US" altLang="ja-JP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ja-JP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ja-JP" altLang="en-US" dirty="0"/>
              <a:t>右の例では、</a:t>
            </a:r>
            <a:r>
              <a:rPr kumimoji="1" lang="en-US" altLang="ja-JP" dirty="0"/>
              <a:t>GRAVITY, QUARTERNION, COMPASS</a:t>
            </a:r>
            <a:r>
              <a:rPr lang="ja-JP" altLang="en-US" dirty="0"/>
              <a:t>をチェックしている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627" y="0"/>
            <a:ext cx="3163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8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センシングループを起動する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下端中央の</a:t>
            </a:r>
            <a:r>
              <a:rPr kumimoji="1" lang="en-US" altLang="ja-JP" dirty="0"/>
              <a:t>Start</a:t>
            </a:r>
            <a:r>
              <a:rPr kumimoji="1" lang="ja-JP" altLang="en-US" dirty="0"/>
              <a:t>ボタンを押すとセンシングが起動する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チェックしたセンサデータが取れているか確認する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627" y="0"/>
            <a:ext cx="3163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1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iVR</a:t>
            </a:r>
            <a:r>
              <a:rPr kumimoji="1" lang="ja-JP" altLang="en-US" dirty="0"/>
              <a:t>プログラムの起動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iPhone</a:t>
            </a:r>
            <a:r>
              <a:rPr kumimoji="1" lang="ja-JP" altLang="en-US" dirty="0" err="1" smtClean="0"/>
              <a:t>での</a:t>
            </a:r>
            <a:r>
              <a:rPr kumimoji="1" lang="en-US" altLang="ja-JP" dirty="0" smtClean="0"/>
              <a:t>ZIGSIM</a:t>
            </a:r>
            <a:r>
              <a:rPr kumimoji="1" lang="ja-JP" altLang="en-US" dirty="0"/>
              <a:t>は、</a:t>
            </a:r>
            <a:r>
              <a:rPr kumimoji="1" lang="en-US" altLang="ja-JP" dirty="0" err="1"/>
              <a:t>iVR</a:t>
            </a:r>
            <a:r>
              <a:rPr kumimoji="1" lang="ja-JP" altLang="en-US" dirty="0"/>
              <a:t>プログラムの前でも後でも起動してよい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iPhone</a:t>
            </a:r>
            <a:r>
              <a:rPr lang="ja-JP" altLang="en-US" dirty="0"/>
              <a:t>は、最初、</a:t>
            </a:r>
            <a:r>
              <a:rPr lang="en-US" altLang="ja-JP" dirty="0"/>
              <a:t>PC</a:t>
            </a:r>
            <a:r>
              <a:rPr lang="ja-JP" altLang="en-US" dirty="0"/>
              <a:t>の画面に対して、画面を垂直上方向に、画面の上を左側</a:t>
            </a:r>
            <a:r>
              <a:rPr lang="ja-JP" altLang="en-US" dirty="0" smtClean="0"/>
              <a:t>に</a:t>
            </a:r>
            <a:r>
              <a:rPr lang="ja-JP" altLang="en-US" dirty="0"/>
              <a:t>、</a:t>
            </a:r>
            <a:r>
              <a:rPr lang="ja-JP" altLang="en-US" dirty="0" smtClean="0"/>
              <a:t>画面</a:t>
            </a:r>
            <a:r>
              <a:rPr lang="ja-JP" altLang="en-US" dirty="0"/>
              <a:t>の下を右側に置く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iPhone</a:t>
            </a:r>
            <a:r>
              <a:rPr lang="ja-JP" altLang="en-US" dirty="0"/>
              <a:t>を上記初期姿勢におき、</a:t>
            </a:r>
            <a:r>
              <a:rPr lang="en-US" altLang="ja-JP" dirty="0" err="1"/>
              <a:t>iVR</a:t>
            </a:r>
            <a:r>
              <a:rPr lang="ja-JP" altLang="en-US" dirty="0"/>
              <a:t>プログラムを普通に立ち上げる。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991703" y="4370488"/>
            <a:ext cx="1449269" cy="3141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perspectiveRelaxedModerately" fov="7200000">
              <a:rot lat="0" lon="18000000" rev="0"/>
            </a:camera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418" y="2814905"/>
            <a:ext cx="4956156" cy="263295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4791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iVR</a:t>
            </a:r>
            <a:r>
              <a:rPr kumimoji="1" lang="ja-JP" altLang="en-US" dirty="0"/>
              <a:t>基本プログラムの改造</a:t>
            </a:r>
            <a:r>
              <a:rPr kumimoji="1" lang="ja-JP" altLang="en-US" dirty="0" smtClean="0"/>
              <a:t>（</a:t>
            </a:r>
            <a:r>
              <a:rPr lang="ja-JP" altLang="en-US" dirty="0"/>
              <a:t>参考</a:t>
            </a:r>
            <a:r>
              <a:rPr kumimoji="1" lang="ja-JP" altLang="en-US" dirty="0" smtClean="0"/>
              <a:t>実施済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ソースファイルとヘッダファイルはすでに組み込まれている</a:t>
            </a:r>
            <a:endParaRPr kumimoji="1" lang="en-US" altLang="ja-JP" dirty="0"/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ezZigSim.cpp</a:t>
            </a:r>
            <a:r>
              <a:rPr lang="en-US" altLang="ja-JP" dirty="0"/>
              <a:t>, </a:t>
            </a:r>
            <a:r>
              <a:rPr lang="en-US" altLang="ja-JP" dirty="0" err="1">
                <a:solidFill>
                  <a:srgbClr val="00B050"/>
                </a:solidFill>
              </a:rPr>
              <a:t>ezZigSim.h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endParaRPr kumimoji="1" lang="en-US" altLang="ja-JP" dirty="0"/>
          </a:p>
          <a:p>
            <a:r>
              <a:rPr lang="en-US" altLang="ja-JP" dirty="0" err="1"/>
              <a:t>sim.h</a:t>
            </a:r>
            <a:endParaRPr lang="en-US" altLang="ja-JP" dirty="0"/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#include “</a:t>
            </a:r>
            <a:r>
              <a:rPr lang="en-US" altLang="ja-JP" dirty="0" err="1">
                <a:solidFill>
                  <a:srgbClr val="00B050"/>
                </a:solidFill>
              </a:rPr>
              <a:t>ezZigSim.h</a:t>
            </a:r>
            <a:r>
              <a:rPr lang="en-US" altLang="ja-JP" dirty="0">
                <a:solidFill>
                  <a:srgbClr val="00B050"/>
                </a:solidFill>
              </a:rPr>
              <a:t>”</a:t>
            </a:r>
          </a:p>
          <a:p>
            <a:pPr lvl="1"/>
            <a:r>
              <a:rPr kumimoji="1" lang="en-US" altLang="ja-JP" dirty="0" err="1"/>
              <a:t>SimDataT</a:t>
            </a:r>
            <a:r>
              <a:rPr kumimoji="1" lang="ja-JP" altLang="en-US" dirty="0"/>
              <a:t>にメンバ変数を追加する</a:t>
            </a:r>
            <a:r>
              <a:rPr kumimoji="1" lang="en-US" altLang="ja-JP" dirty="0"/>
              <a:t>:</a:t>
            </a:r>
            <a:r>
              <a:rPr lang="ja-JP" altLang="en-US" dirty="0"/>
              <a:t> </a:t>
            </a:r>
            <a:r>
              <a:rPr lang="en-US" altLang="ja-JP" dirty="0" err="1">
                <a:solidFill>
                  <a:srgbClr val="00B050"/>
                </a:solidFill>
              </a:rPr>
              <a:t>ezZigSim</a:t>
            </a:r>
            <a:r>
              <a:rPr lang="en-US" altLang="ja-JP" dirty="0">
                <a:solidFill>
                  <a:srgbClr val="00B050"/>
                </a:solidFill>
              </a:rPr>
              <a:t> *</a:t>
            </a:r>
            <a:r>
              <a:rPr lang="en-US" altLang="ja-JP" dirty="0" err="1">
                <a:solidFill>
                  <a:srgbClr val="00B050"/>
                </a:solidFill>
              </a:rPr>
              <a:t>zigsim</a:t>
            </a:r>
            <a:r>
              <a:rPr lang="en-US" altLang="ja-JP" dirty="0">
                <a:solidFill>
                  <a:srgbClr val="00B050"/>
                </a:solidFill>
              </a:rPr>
              <a:t>;</a:t>
            </a:r>
          </a:p>
          <a:p>
            <a:pPr lvl="1"/>
            <a:endParaRPr kumimoji="1" lang="en-US" altLang="ja-JP" dirty="0"/>
          </a:p>
          <a:p>
            <a:r>
              <a:rPr lang="en-US" altLang="ja-JP" dirty="0"/>
              <a:t>sim.cpp</a:t>
            </a:r>
          </a:p>
          <a:p>
            <a:pPr lvl="1"/>
            <a:r>
              <a:rPr lang="ja-JP" altLang="en-US" dirty="0"/>
              <a:t>グローバル変数の宣言</a:t>
            </a:r>
            <a:r>
              <a:rPr kumimoji="1" lang="en-US" altLang="ja-JP" dirty="0"/>
              <a:t>: </a:t>
            </a:r>
            <a:r>
              <a:rPr kumimoji="1" lang="en-US" altLang="ja-JP" dirty="0">
                <a:solidFill>
                  <a:srgbClr val="00B050"/>
                </a:solidFill>
              </a:rPr>
              <a:t>static </a:t>
            </a:r>
            <a:r>
              <a:rPr kumimoji="1" lang="en-US" altLang="ja-JP" dirty="0" err="1">
                <a:solidFill>
                  <a:srgbClr val="00B050"/>
                </a:solidFill>
              </a:rPr>
              <a:t>simdata.zigsim</a:t>
            </a:r>
            <a:r>
              <a:rPr kumimoji="1" lang="en-US" altLang="ja-JP" dirty="0">
                <a:solidFill>
                  <a:srgbClr val="00B050"/>
                </a:solidFill>
              </a:rPr>
              <a:t> = </a:t>
            </a:r>
            <a:r>
              <a:rPr kumimoji="1" lang="en-US" altLang="ja-JP" dirty="0" err="1">
                <a:solidFill>
                  <a:srgbClr val="00B050"/>
                </a:solidFill>
              </a:rPr>
              <a:t>ezZigSim</a:t>
            </a:r>
            <a:r>
              <a:rPr kumimoji="1" lang="en-US" altLang="ja-JP" dirty="0">
                <a:solidFill>
                  <a:srgbClr val="00B050"/>
                </a:solidFill>
              </a:rPr>
              <a:t>::get();</a:t>
            </a:r>
          </a:p>
          <a:p>
            <a:pPr lvl="1"/>
            <a:r>
              <a:rPr lang="en-US" altLang="ja-JP" dirty="0" err="1"/>
              <a:t>InitScene</a:t>
            </a:r>
            <a:r>
              <a:rPr lang="en-US" altLang="ja-JP" dirty="0"/>
              <a:t>: </a:t>
            </a:r>
            <a:r>
              <a:rPr lang="en-US" altLang="ja-JP" dirty="0" err="1">
                <a:solidFill>
                  <a:srgbClr val="00B050"/>
                </a:solidFill>
              </a:rPr>
              <a:t>simdata.zigsim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init</a:t>
            </a:r>
            <a:r>
              <a:rPr lang="en-US" altLang="ja-JP" dirty="0">
                <a:solidFill>
                  <a:srgbClr val="00B050"/>
                </a:solidFill>
              </a:rPr>
              <a:t>();</a:t>
            </a:r>
            <a:endParaRPr kumimoji="1"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 err="1"/>
              <a:t>UpdateScene</a:t>
            </a:r>
            <a:r>
              <a:rPr lang="en-US" altLang="ja-JP" dirty="0"/>
              <a:t>: </a:t>
            </a:r>
            <a:r>
              <a:rPr lang="en-US" altLang="ja-JP" dirty="0" err="1">
                <a:solidFill>
                  <a:srgbClr val="00B050"/>
                </a:solidFill>
              </a:rPr>
              <a:t>simdata.zigsim</a:t>
            </a:r>
            <a:r>
              <a:rPr lang="en-US" altLang="ja-JP" dirty="0">
                <a:solidFill>
                  <a:srgbClr val="00B050"/>
                </a:solidFill>
              </a:rPr>
              <a:t>-&gt;update</a:t>
            </a:r>
            <a:r>
              <a:rPr lang="en-US" altLang="ja-JP" dirty="0" smtClean="0">
                <a:solidFill>
                  <a:srgbClr val="00B050"/>
                </a:solidFill>
              </a:rPr>
              <a:t>();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kumimoji="1" lang="en-US" altLang="ja-JP" dirty="0" err="1"/>
              <a:t>TermScene</a:t>
            </a:r>
            <a:r>
              <a:rPr kumimoji="1" lang="en-US" altLang="ja-JP" dirty="0"/>
              <a:t>: </a:t>
            </a:r>
            <a:r>
              <a:rPr kumimoji="1" lang="en-US" altLang="ja-JP" dirty="0" err="1">
                <a:solidFill>
                  <a:srgbClr val="00B050"/>
                </a:solidFill>
              </a:rPr>
              <a:t>simdata.zigsim</a:t>
            </a:r>
            <a:r>
              <a:rPr kumimoji="1" lang="en-US" altLang="ja-JP" dirty="0">
                <a:solidFill>
                  <a:srgbClr val="00B050"/>
                </a:solidFill>
              </a:rPr>
              <a:t>-&gt;term();</a:t>
            </a:r>
          </a:p>
          <a:p>
            <a:pPr lvl="1"/>
            <a:endParaRPr lang="en-US" altLang="ja-JP" dirty="0">
              <a:solidFill>
                <a:srgbClr val="00B050"/>
              </a:solidFill>
            </a:endParaRPr>
          </a:p>
          <a:p>
            <a:r>
              <a:rPr kumimoji="1" lang="ja-JP" altLang="en-US" dirty="0">
                <a:solidFill>
                  <a:srgbClr val="00B050"/>
                </a:solidFill>
              </a:rPr>
              <a:t>参考としてデフォルトで設定してある機能</a:t>
            </a:r>
            <a:endParaRPr kumimoji="1" lang="en-US" altLang="ja-JP" dirty="0">
              <a:solidFill>
                <a:srgbClr val="00B050"/>
              </a:solidFill>
            </a:endParaRPr>
          </a:p>
          <a:p>
            <a:pPr lvl="1"/>
            <a:r>
              <a:rPr kumimoji="1" lang="en-US" altLang="ja-JP" dirty="0">
                <a:solidFill>
                  <a:srgbClr val="00B050"/>
                </a:solidFill>
              </a:rPr>
              <a:t>iPhone</a:t>
            </a:r>
            <a:r>
              <a:rPr kumimoji="1" lang="ja-JP" altLang="en-US" dirty="0">
                <a:solidFill>
                  <a:srgbClr val="00B050"/>
                </a:solidFill>
              </a:rPr>
              <a:t>を左右に向けると、視点が左右旋回し、</a:t>
            </a:r>
            <a:r>
              <a:rPr kumimoji="1" lang="en-US" altLang="ja-JP" dirty="0">
                <a:solidFill>
                  <a:srgbClr val="00B050"/>
                </a:solidFill>
              </a:rPr>
              <a:t>iPhone</a:t>
            </a:r>
            <a:r>
              <a:rPr kumimoji="1" lang="ja-JP" altLang="en-US" dirty="0">
                <a:solidFill>
                  <a:srgbClr val="00B050"/>
                </a:solidFill>
              </a:rPr>
              <a:t>を傾けると、前進・後退する。</a:t>
            </a:r>
            <a:endParaRPr kumimoji="1"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iPhone</a:t>
            </a:r>
            <a:r>
              <a:rPr lang="ja-JP" altLang="en-US" dirty="0">
                <a:solidFill>
                  <a:srgbClr val="00B050"/>
                </a:solidFill>
              </a:rPr>
              <a:t>の姿勢を「心臓」に連動させている。</a:t>
            </a:r>
            <a:endParaRPr kumimoji="1" lang="en-US" altLang="ja-JP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31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参考としてデフォルトで設定してある</a:t>
            </a:r>
            <a:r>
              <a:rPr lang="ja-JP" altLang="en-US" dirty="0" smtClean="0"/>
              <a:t>機能：移動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UpdateScene</a:t>
            </a:r>
            <a:r>
              <a:rPr lang="en-US" altLang="ja-JP" dirty="0" smtClean="0"/>
              <a:t>/sim.cpp</a:t>
            </a:r>
            <a:endParaRPr lang="en-US" altLang="ja-JP" dirty="0"/>
          </a:p>
          <a:p>
            <a:pPr lvl="1"/>
            <a:r>
              <a:rPr lang="en-US" altLang="ja-JP" dirty="0" smtClean="0">
                <a:solidFill>
                  <a:srgbClr val="00B050"/>
                </a:solidFill>
              </a:rPr>
              <a:t>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//</a:t>
            </a:r>
            <a:r>
              <a:rPr lang="ja-JP" altLang="en-US" dirty="0" smtClean="0">
                <a:solidFill>
                  <a:srgbClr val="00B050"/>
                </a:solidFill>
              </a:rPr>
              <a:t>左右に傾けると左右旋回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if 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 smtClean="0">
                <a:solidFill>
                  <a:srgbClr val="00B050"/>
                </a:solidFill>
              </a:rPr>
              <a:t>data.angle.roll</a:t>
            </a:r>
            <a:r>
              <a:rPr lang="en-US" altLang="ja-JP" dirty="0" smtClean="0">
                <a:solidFill>
                  <a:srgbClr val="00B050"/>
                </a:solidFill>
              </a:rPr>
              <a:t> </a:t>
            </a:r>
            <a:r>
              <a:rPr lang="en-US" altLang="ja-JP" dirty="0">
                <a:solidFill>
                  <a:srgbClr val="00B050"/>
                </a:solidFill>
              </a:rPr>
              <a:t>&gt; 5) 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	</a:t>
            </a:r>
            <a:r>
              <a:rPr lang="en-US" altLang="ja-JP" dirty="0" err="1">
                <a:solidFill>
                  <a:srgbClr val="00B050"/>
                </a:solidFill>
              </a:rPr>
              <a:t>simdata.player.turn</a:t>
            </a:r>
            <a:r>
              <a:rPr lang="en-US" altLang="ja-JP" dirty="0">
                <a:solidFill>
                  <a:srgbClr val="00B050"/>
                </a:solidFill>
              </a:rPr>
              <a:t> = 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data.angle.roll</a:t>
            </a:r>
            <a:r>
              <a:rPr lang="en-US" altLang="ja-JP" dirty="0">
                <a:solidFill>
                  <a:srgbClr val="00B050"/>
                </a:solidFill>
              </a:rPr>
              <a:t> </a:t>
            </a:r>
            <a:r>
              <a:rPr lang="en-US" altLang="ja-JP" dirty="0" smtClean="0">
                <a:solidFill>
                  <a:srgbClr val="00B050"/>
                </a:solidFill>
              </a:rPr>
              <a:t>– </a:t>
            </a:r>
            <a:r>
              <a:rPr lang="en-US" altLang="ja-JP" dirty="0">
                <a:solidFill>
                  <a:srgbClr val="00B050"/>
                </a:solidFill>
              </a:rPr>
              <a:t>5) * 0.0125;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}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if 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 smtClean="0">
                <a:solidFill>
                  <a:srgbClr val="00B050"/>
                </a:solidFill>
              </a:rPr>
              <a:t>data.angle.roll</a:t>
            </a:r>
            <a:r>
              <a:rPr lang="en-US" altLang="ja-JP" dirty="0" smtClean="0">
                <a:solidFill>
                  <a:srgbClr val="00B050"/>
                </a:solidFill>
              </a:rPr>
              <a:t> </a:t>
            </a:r>
            <a:r>
              <a:rPr lang="en-US" altLang="ja-JP" dirty="0">
                <a:solidFill>
                  <a:srgbClr val="00B050"/>
                </a:solidFill>
              </a:rPr>
              <a:t>&lt; -5) 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	</a:t>
            </a:r>
            <a:r>
              <a:rPr lang="en-US" altLang="ja-JP" dirty="0" err="1">
                <a:solidFill>
                  <a:srgbClr val="00B050"/>
                </a:solidFill>
              </a:rPr>
              <a:t>simdata.player.turn</a:t>
            </a:r>
            <a:r>
              <a:rPr lang="en-US" altLang="ja-JP" dirty="0">
                <a:solidFill>
                  <a:srgbClr val="00B050"/>
                </a:solidFill>
              </a:rPr>
              <a:t> = 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data.angle.roll</a:t>
            </a:r>
            <a:r>
              <a:rPr lang="en-US" altLang="ja-JP" dirty="0">
                <a:solidFill>
                  <a:srgbClr val="00B050"/>
                </a:solidFill>
              </a:rPr>
              <a:t> + 5) * 0.0125;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}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//</a:t>
            </a:r>
            <a:r>
              <a:rPr lang="ja-JP" altLang="en-US" dirty="0" smtClean="0">
                <a:solidFill>
                  <a:srgbClr val="00B050"/>
                </a:solidFill>
              </a:rPr>
              <a:t>前後に傾けると前進後退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if 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data.angle.pitch</a:t>
            </a:r>
            <a:r>
              <a:rPr lang="en-US" altLang="ja-JP" dirty="0">
                <a:solidFill>
                  <a:srgbClr val="00B050"/>
                </a:solidFill>
              </a:rPr>
              <a:t> &lt; -5) 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	</a:t>
            </a:r>
            <a:r>
              <a:rPr lang="en-US" altLang="ja-JP" dirty="0" err="1">
                <a:solidFill>
                  <a:srgbClr val="00B050"/>
                </a:solidFill>
              </a:rPr>
              <a:t>simdata.player.move</a:t>
            </a:r>
            <a:r>
              <a:rPr lang="en-US" altLang="ja-JP" dirty="0">
                <a:solidFill>
                  <a:srgbClr val="00B050"/>
                </a:solidFill>
              </a:rPr>
              <a:t> = -(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data.angle.pitch</a:t>
            </a:r>
            <a:r>
              <a:rPr lang="en-US" altLang="ja-JP" dirty="0">
                <a:solidFill>
                  <a:srgbClr val="00B050"/>
                </a:solidFill>
              </a:rPr>
              <a:t> + 5) * 0.0025;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}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if 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data.angle.pitch</a:t>
            </a:r>
            <a:r>
              <a:rPr lang="en-US" altLang="ja-JP" dirty="0">
                <a:solidFill>
                  <a:srgbClr val="00B050"/>
                </a:solidFill>
              </a:rPr>
              <a:t> &gt; 5) 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	</a:t>
            </a:r>
            <a:r>
              <a:rPr lang="en-US" altLang="ja-JP" dirty="0" err="1">
                <a:solidFill>
                  <a:srgbClr val="00B050"/>
                </a:solidFill>
              </a:rPr>
              <a:t>simdata.player.move</a:t>
            </a:r>
            <a:r>
              <a:rPr lang="en-US" altLang="ja-JP" dirty="0">
                <a:solidFill>
                  <a:srgbClr val="00B050"/>
                </a:solidFill>
              </a:rPr>
              <a:t> = -(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data.angle.pitch</a:t>
            </a:r>
            <a:r>
              <a:rPr lang="en-US" altLang="ja-JP" dirty="0">
                <a:solidFill>
                  <a:srgbClr val="00B050"/>
                </a:solidFill>
              </a:rPr>
              <a:t> - 5) * 0.0025;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}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 smtClean="0">
                <a:solidFill>
                  <a:srgbClr val="00B050"/>
                </a:solidFill>
              </a:rPr>
              <a:t>}</a:t>
            </a:r>
            <a:endParaRPr lang="en-US" altLang="ja-JP" dirty="0">
              <a:solidFill>
                <a:srgbClr val="00B050"/>
              </a:solidFill>
            </a:endParaRPr>
          </a:p>
          <a:p>
            <a:pPr marL="176213" lvl="1" indent="0">
              <a:buNone/>
            </a:pPr>
            <a:endParaRPr lang="en-US" altLang="ja-JP" dirty="0"/>
          </a:p>
          <a:p>
            <a:pPr lvl="1"/>
            <a:r>
              <a:rPr lang="en-US" altLang="ja-JP" dirty="0" err="1" smtClean="0"/>
              <a:t>MoveObject</a:t>
            </a:r>
            <a:r>
              <a:rPr lang="en-US" altLang="ja-JP" dirty="0"/>
              <a:t>(&amp;</a:t>
            </a:r>
            <a:r>
              <a:rPr lang="en-US" altLang="ja-JP" dirty="0" err="1"/>
              <a:t>simdata.player</a:t>
            </a:r>
            <a:r>
              <a:rPr lang="en-US" altLang="ja-JP" dirty="0" smtClean="0"/>
              <a:t>); //</a:t>
            </a:r>
            <a:r>
              <a:rPr lang="ja-JP" altLang="en-US" dirty="0" smtClean="0"/>
              <a:t>プレイヤ視点の移動を実行する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9381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センサデータの</a:t>
            </a:r>
            <a:r>
              <a:rPr kumimoji="1" lang="ja-JP" altLang="en-US" dirty="0" smtClean="0"/>
              <a:t>使い方</a:t>
            </a:r>
            <a:r>
              <a:rPr lang="ja-JP" altLang="en-US" dirty="0" smtClean="0"/>
              <a:t>～いろいろ使ってみよう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 err="1"/>
              <a:t>euler_t</a:t>
            </a:r>
            <a:r>
              <a:rPr lang="en-US" altLang="ja-JP" dirty="0"/>
              <a:t> gyro;//◆</a:t>
            </a:r>
            <a:r>
              <a:rPr lang="ja-JP" altLang="en-US" dirty="0"/>
              <a:t>ジャイロ</a:t>
            </a:r>
          </a:p>
          <a:p>
            <a:r>
              <a:rPr lang="en-US" altLang="ja-JP" dirty="0" err="1"/>
              <a:t>euler_t</a:t>
            </a:r>
            <a:r>
              <a:rPr lang="en-US" altLang="ja-JP" dirty="0"/>
              <a:t> angle;//</a:t>
            </a:r>
            <a:r>
              <a:rPr lang="ja-JP" altLang="en-US" dirty="0"/>
              <a:t>◇クォータニオンからオイラー角に変換した姿勢</a:t>
            </a:r>
            <a:endParaRPr lang="en-US" altLang="ja-JP" dirty="0"/>
          </a:p>
          <a:p>
            <a:r>
              <a:rPr lang="en-US" altLang="ja-JP" dirty="0"/>
              <a:t>float zero;//</a:t>
            </a:r>
            <a:r>
              <a:rPr lang="ja-JP" altLang="en-US" dirty="0"/>
              <a:t>・０方位を校正するためのオフセット（ユーザは直接使わない）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float compass;//◆</a:t>
            </a:r>
            <a:r>
              <a:rPr lang="ja-JP" altLang="en-US" dirty="0"/>
              <a:t>地磁気による方位角</a:t>
            </a:r>
          </a:p>
          <a:p>
            <a:r>
              <a:rPr lang="en-US" altLang="ja-JP" dirty="0"/>
              <a:t>float </a:t>
            </a:r>
            <a:r>
              <a:rPr lang="en-US" altLang="ja-JP" dirty="0" err="1"/>
              <a:t>faceup</a:t>
            </a:r>
            <a:r>
              <a:rPr lang="en-US" altLang="ja-JP" dirty="0"/>
              <a:t>;//◆</a:t>
            </a:r>
            <a:r>
              <a:rPr lang="ja-JP" altLang="en-US" dirty="0"/>
              <a:t>フェースアップ（画面が水平で上方向を基準）のとき </a:t>
            </a:r>
            <a:r>
              <a:rPr lang="en-US" altLang="ja-JP" dirty="0"/>
              <a:t>1.0</a:t>
            </a:r>
            <a:endParaRPr lang="ja-JP" altLang="en-US" dirty="0"/>
          </a:p>
          <a:p>
            <a:r>
              <a:rPr lang="en-US" altLang="ja-JP" dirty="0"/>
              <a:t>float north; //</a:t>
            </a:r>
            <a:r>
              <a:rPr lang="ja-JP" altLang="en-US" dirty="0"/>
              <a:t>◇起動時の北への方位角（方位角を使うときに推奨）</a:t>
            </a:r>
          </a:p>
          <a:p>
            <a:endParaRPr lang="ja-JP" altLang="en-US" dirty="0"/>
          </a:p>
          <a:p>
            <a:r>
              <a:rPr lang="en-US" altLang="ja-JP" dirty="0" err="1"/>
              <a:t>quat_t</a:t>
            </a:r>
            <a:r>
              <a:rPr lang="en-US" altLang="ja-JP" dirty="0"/>
              <a:t> </a:t>
            </a:r>
            <a:r>
              <a:rPr lang="en-US" altLang="ja-JP" dirty="0" err="1"/>
              <a:t>qt</a:t>
            </a:r>
            <a:r>
              <a:rPr lang="en-US" altLang="ja-JP" dirty="0"/>
              <a:t>;//◆</a:t>
            </a:r>
            <a:r>
              <a:rPr lang="ja-JP" altLang="en-US" dirty="0"/>
              <a:t>クォータニオン（通常は </a:t>
            </a:r>
            <a:r>
              <a:rPr lang="en-US" altLang="ja-JP" dirty="0"/>
              <a:t>angle </a:t>
            </a:r>
            <a:r>
              <a:rPr lang="ja-JP" altLang="en-US" dirty="0"/>
              <a:t>を使うことを推奨）</a:t>
            </a:r>
          </a:p>
          <a:p>
            <a:endParaRPr lang="ja-JP" altLang="en-US" dirty="0"/>
          </a:p>
          <a:p>
            <a:r>
              <a:rPr lang="en-US" altLang="ja-JP" dirty="0" err="1"/>
              <a:t>vector_t</a:t>
            </a:r>
            <a:r>
              <a:rPr lang="en-US" altLang="ja-JP" dirty="0"/>
              <a:t> </a:t>
            </a:r>
            <a:r>
              <a:rPr lang="en-US" altLang="ja-JP" dirty="0" err="1"/>
              <a:t>accel</a:t>
            </a:r>
            <a:r>
              <a:rPr lang="en-US" altLang="ja-JP" dirty="0"/>
              <a:t>; //</a:t>
            </a:r>
            <a:r>
              <a:rPr lang="ja-JP" altLang="en-US" dirty="0"/>
              <a:t>◆加速度ベクトル</a:t>
            </a:r>
            <a:endParaRPr lang="en-US" altLang="ja-JP" dirty="0"/>
          </a:p>
          <a:p>
            <a:r>
              <a:rPr lang="en-US" altLang="ja-JP" dirty="0" err="1"/>
              <a:t>vector_t</a:t>
            </a:r>
            <a:r>
              <a:rPr lang="en-US" altLang="ja-JP" dirty="0"/>
              <a:t> gravity; //</a:t>
            </a:r>
            <a:r>
              <a:rPr lang="ja-JP" altLang="en-US" dirty="0"/>
              <a:t>◆重力加速度ベクトル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float latitude; //</a:t>
            </a:r>
            <a:r>
              <a:rPr lang="ja-JP" altLang="en-US" dirty="0"/>
              <a:t>◆緯度</a:t>
            </a:r>
            <a:endParaRPr lang="en-US" altLang="ja-JP" dirty="0"/>
          </a:p>
          <a:p>
            <a:r>
              <a:rPr lang="en-US" altLang="ja-JP" dirty="0"/>
              <a:t>float longitude; //</a:t>
            </a:r>
            <a:r>
              <a:rPr lang="ja-JP" altLang="en-US" dirty="0"/>
              <a:t>◆経度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float pressure; //</a:t>
            </a:r>
            <a:r>
              <a:rPr lang="ja-JP" altLang="en-US" dirty="0"/>
              <a:t>◆気圧 </a:t>
            </a:r>
            <a:r>
              <a:rPr lang="en-US" altLang="ja-JP" dirty="0"/>
              <a:t>[</a:t>
            </a:r>
            <a:r>
              <a:rPr lang="en-US" altLang="ja-JP" dirty="0" err="1"/>
              <a:t>hP</a:t>
            </a:r>
            <a:r>
              <a:rPr lang="en-US" altLang="ja-JP" dirty="0"/>
              <a:t>]</a:t>
            </a:r>
          </a:p>
          <a:p>
            <a:r>
              <a:rPr lang="en-US" altLang="ja-JP" dirty="0"/>
              <a:t>float altitude; //</a:t>
            </a:r>
            <a:r>
              <a:rPr lang="ja-JP" altLang="en-US" dirty="0"/>
              <a:t>◆高度 </a:t>
            </a:r>
            <a:r>
              <a:rPr lang="en-US" altLang="ja-JP" dirty="0"/>
              <a:t>[m]</a:t>
            </a:r>
          </a:p>
          <a:p>
            <a:endParaRPr lang="en-US" altLang="ja-JP" dirty="0"/>
          </a:p>
          <a:p>
            <a:r>
              <a:rPr lang="en-US" altLang="ja-JP" dirty="0" err="1"/>
              <a:t>vector_t</a:t>
            </a:r>
            <a:r>
              <a:rPr lang="en-US" altLang="ja-JP" dirty="0"/>
              <a:t> touch[5]; //◆</a:t>
            </a:r>
            <a:r>
              <a:rPr lang="ja-JP" altLang="en-US" dirty="0"/>
              <a:t>タッチ</a:t>
            </a:r>
            <a:r>
              <a:rPr lang="en-US" altLang="ja-JP" dirty="0"/>
              <a:t> </a:t>
            </a:r>
            <a:r>
              <a:rPr lang="en-US" altLang="ja-JP" dirty="0" err="1"/>
              <a:t>xy</a:t>
            </a:r>
            <a:r>
              <a:rPr lang="ja-JP" altLang="en-US" dirty="0"/>
              <a:t>座標各</a:t>
            </a:r>
            <a:r>
              <a:rPr lang="en-US" altLang="ja-JP" dirty="0"/>
              <a:t>[-1.0, 1.0]</a:t>
            </a:r>
            <a:r>
              <a:rPr lang="ja-JP" altLang="en-US" dirty="0" err="1"/>
              <a:t>、</a:t>
            </a:r>
            <a:r>
              <a:rPr lang="en-US" altLang="ja-JP" dirty="0"/>
              <a:t>z</a:t>
            </a:r>
            <a:r>
              <a:rPr lang="ja-JP" altLang="en-US" dirty="0"/>
              <a:t>座標をタッチ面積</a:t>
            </a:r>
            <a:r>
              <a:rPr lang="en-US" altLang="ja-JP" dirty="0"/>
              <a:t>[pixel]</a:t>
            </a:r>
            <a:r>
              <a:rPr lang="ja-JP" altLang="en-US" dirty="0"/>
              <a:t>として使用</a:t>
            </a:r>
          </a:p>
          <a:p>
            <a:r>
              <a:rPr lang="en-US" altLang="ja-JP" dirty="0" err="1"/>
              <a:t>Int</a:t>
            </a:r>
            <a:r>
              <a:rPr lang="en-US" altLang="ja-JP" dirty="0"/>
              <a:t> </a:t>
            </a:r>
            <a:r>
              <a:rPr lang="en-US" altLang="ja-JP" dirty="0" err="1"/>
              <a:t>n_touch</a:t>
            </a:r>
            <a:r>
              <a:rPr lang="en-US" altLang="ja-JP" dirty="0"/>
              <a:t>; //</a:t>
            </a:r>
            <a:r>
              <a:rPr lang="ja-JP" altLang="en-US" dirty="0"/>
              <a:t>◆タッチしている指の数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331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ジャイロセンサを使う～</a:t>
            </a:r>
            <a:r>
              <a:rPr lang="en-US" altLang="ja-JP" dirty="0" err="1"/>
              <a:t>ezGyro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WitMotion</a:t>
            </a:r>
            <a:r>
              <a:rPr kumimoji="1" lang="ja-JP" altLang="en-US" dirty="0" smtClean="0"/>
              <a:t>社製 </a:t>
            </a:r>
            <a:r>
              <a:rPr lang="en-US" altLang="ja-JP" b="0" dirty="0" smtClean="0"/>
              <a:t>WT901</a:t>
            </a:r>
            <a:r>
              <a:rPr lang="ja-JP" altLang="en-US" b="0" dirty="0" smtClean="0"/>
              <a:t>（</a:t>
            </a:r>
            <a:r>
              <a:rPr lang="en-US" altLang="ja-JP" b="0" dirty="0" smtClean="0"/>
              <a:t>MPU9250</a:t>
            </a:r>
            <a:r>
              <a:rPr lang="ja-JP" altLang="en-US" b="0" dirty="0" smtClean="0"/>
              <a:t>）と</a:t>
            </a:r>
            <a:r>
              <a:rPr lang="en-US" altLang="ja-JP" b="0" dirty="0" smtClean="0"/>
              <a:t>UART</a:t>
            </a:r>
            <a:r>
              <a:rPr lang="ja-JP" altLang="en-US" b="0" dirty="0" smtClean="0"/>
              <a:t>変換ケーブルが別途必要</a:t>
            </a:r>
            <a:endParaRPr lang="en-US" altLang="ja-JP" b="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210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センサモジュールの準備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WitMotion</a:t>
            </a:r>
            <a:r>
              <a:rPr kumimoji="1" lang="en-US" altLang="ja-JP" dirty="0" smtClean="0"/>
              <a:t> </a:t>
            </a:r>
            <a:r>
              <a:rPr lang="en-US" altLang="ja-JP" b="0" dirty="0" smtClean="0"/>
              <a:t>WT901</a:t>
            </a:r>
            <a:r>
              <a:rPr lang="ja-JP" altLang="en-US" b="0" dirty="0" smtClean="0"/>
              <a:t>（</a:t>
            </a:r>
            <a:r>
              <a:rPr lang="en-US" altLang="ja-JP" b="0" dirty="0" smtClean="0"/>
              <a:t>MPU9250</a:t>
            </a:r>
            <a:r>
              <a:rPr lang="ja-JP" altLang="en-US" b="0" dirty="0" smtClean="0"/>
              <a:t>）</a:t>
            </a:r>
            <a:endParaRPr lang="en-US" altLang="ja-JP" b="0" dirty="0" smtClean="0"/>
          </a:p>
          <a:p>
            <a:r>
              <a:rPr kumimoji="1" lang="en-US" altLang="ja-JP" b="0" dirty="0" smtClean="0"/>
              <a:t>TTL to USB UART</a:t>
            </a:r>
            <a:r>
              <a:rPr kumimoji="1" lang="ja-JP" altLang="en-US" b="0" dirty="0" smtClean="0"/>
              <a:t>コンバータケーブル（</a:t>
            </a:r>
            <a:r>
              <a:rPr kumimoji="1" lang="en-US" altLang="ja-JP" b="0" dirty="0" smtClean="0"/>
              <a:t>CH340</a:t>
            </a:r>
            <a:r>
              <a:rPr kumimoji="1" lang="ja-JP" altLang="en-US" b="0" dirty="0" smtClean="0"/>
              <a:t>）</a:t>
            </a:r>
            <a:endParaRPr kumimoji="1" lang="en-US" altLang="ja-JP" b="0" dirty="0" smtClean="0"/>
          </a:p>
          <a:p>
            <a:endParaRPr lang="en-US" altLang="ja-JP" b="0" dirty="0"/>
          </a:p>
          <a:p>
            <a:r>
              <a:rPr kumimoji="1" lang="ja-JP" altLang="en-US" dirty="0" smtClean="0">
                <a:solidFill>
                  <a:srgbClr val="FF0000"/>
                </a:solidFill>
              </a:rPr>
              <a:t>デバイスマネージャーで、</a:t>
            </a:r>
            <a:r>
              <a:rPr lang="en-US" altLang="ja-JP" dirty="0">
                <a:solidFill>
                  <a:srgbClr val="FF0000"/>
                </a:solidFill>
              </a:rPr>
              <a:t/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kumimoji="1" lang="en-US" altLang="ja-JP" dirty="0" smtClean="0">
                <a:solidFill>
                  <a:srgbClr val="FF0000"/>
                </a:solidFill>
              </a:rPr>
              <a:t>COM</a:t>
            </a:r>
            <a:r>
              <a:rPr kumimoji="1" lang="ja-JP" altLang="en-US" dirty="0" smtClean="0">
                <a:solidFill>
                  <a:srgbClr val="FF0000"/>
                </a:solidFill>
              </a:rPr>
              <a:t>ポート番号を調べておくこと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230" y="1795807"/>
            <a:ext cx="6766255" cy="4955226"/>
          </a:xfrm>
          <a:prstGeom prst="rect">
            <a:avLst/>
          </a:prstGeom>
        </p:spPr>
      </p:pic>
      <p:sp>
        <p:nvSpPr>
          <p:cNvPr id="3" name="楕円 2"/>
          <p:cNvSpPr/>
          <p:nvPr/>
        </p:nvSpPr>
        <p:spPr>
          <a:xfrm>
            <a:off x="5279010" y="4982066"/>
            <a:ext cx="1852367" cy="70701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77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iVR</a:t>
            </a:r>
            <a:r>
              <a:rPr kumimoji="1" lang="ja-JP" altLang="en-US" dirty="0"/>
              <a:t>基本プログラムの改造</a:t>
            </a:r>
            <a:r>
              <a:rPr kumimoji="1" lang="ja-JP" altLang="en-US" dirty="0" smtClean="0"/>
              <a:t>（</a:t>
            </a:r>
            <a:r>
              <a:rPr lang="ja-JP" altLang="en-US" dirty="0"/>
              <a:t>参考</a:t>
            </a:r>
            <a:r>
              <a:rPr kumimoji="1" lang="ja-JP" altLang="en-US" dirty="0" smtClean="0"/>
              <a:t>実施済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必要なソースファイル</a:t>
            </a:r>
            <a:r>
              <a:rPr kumimoji="1" lang="ja-JP" altLang="en-US" dirty="0"/>
              <a:t>とヘッダファイル</a:t>
            </a:r>
            <a:r>
              <a:rPr kumimoji="1" lang="ja-JP" altLang="en-US" dirty="0" smtClean="0"/>
              <a:t>は、プロジェクトにすで</a:t>
            </a:r>
            <a:r>
              <a:rPr kumimoji="1" lang="ja-JP" altLang="en-US" dirty="0"/>
              <a:t>に組み込まれている</a:t>
            </a:r>
            <a:endParaRPr kumimoji="1" lang="en-US" altLang="ja-JP" dirty="0"/>
          </a:p>
          <a:p>
            <a:pPr lvl="1"/>
            <a:r>
              <a:rPr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src</a:t>
            </a:r>
            <a:r>
              <a:rPr lang="en-US" altLang="ja-JP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/ezGyro.cpp, 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JY901.cpp, </a:t>
            </a:r>
            <a:r>
              <a:rPr lang="en-US" altLang="ja-JP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Com.cpp</a:t>
            </a:r>
            <a:endParaRPr lang="en-US" altLang="ja-JP" dirty="0" smtClean="0">
              <a:solidFill>
                <a:srgbClr val="00B050"/>
              </a:solidFill>
            </a:endParaRPr>
          </a:p>
          <a:p>
            <a:pPr lvl="1"/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include/</a:t>
            </a:r>
            <a:r>
              <a:rPr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ezGyro.h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JY901.h, </a:t>
            </a:r>
            <a:r>
              <a:rPr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Com.h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ja-JP" b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kumimoji="1" lang="en-US" altLang="ja-JP" dirty="0"/>
          </a:p>
          <a:p>
            <a:r>
              <a:rPr lang="en-US" altLang="ja-JP" dirty="0" err="1"/>
              <a:t>sim.h</a:t>
            </a:r>
            <a:endParaRPr lang="en-US" altLang="ja-JP" dirty="0"/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#include “</a:t>
            </a:r>
            <a:r>
              <a:rPr lang="en-US" altLang="ja-JP" dirty="0" err="1" smtClean="0">
                <a:solidFill>
                  <a:srgbClr val="00B050"/>
                </a:solidFill>
              </a:rPr>
              <a:t>ezGyro.h</a:t>
            </a:r>
            <a:r>
              <a:rPr lang="en-US" altLang="ja-JP" dirty="0">
                <a:solidFill>
                  <a:srgbClr val="00B050"/>
                </a:solidFill>
              </a:rPr>
              <a:t>”</a:t>
            </a:r>
          </a:p>
          <a:p>
            <a:pPr lvl="1"/>
            <a:r>
              <a:rPr kumimoji="1" lang="en-US" altLang="ja-JP" dirty="0" err="1"/>
              <a:t>SimDataT</a:t>
            </a:r>
            <a:r>
              <a:rPr kumimoji="1" lang="ja-JP" altLang="en-US" dirty="0"/>
              <a:t>にメンバ変数を追加する</a:t>
            </a:r>
            <a:r>
              <a:rPr kumimoji="1" lang="en-US" altLang="ja-JP" dirty="0"/>
              <a:t>:</a:t>
            </a:r>
            <a:r>
              <a:rPr lang="ja-JP" altLang="en-US" dirty="0"/>
              <a:t> </a:t>
            </a:r>
            <a:r>
              <a:rPr lang="en-US" altLang="ja-JP" dirty="0" err="1" smtClean="0">
                <a:solidFill>
                  <a:srgbClr val="00B050"/>
                </a:solidFill>
              </a:rPr>
              <a:t>ezGyro</a:t>
            </a:r>
            <a:r>
              <a:rPr lang="en-US" altLang="ja-JP" dirty="0" smtClean="0">
                <a:solidFill>
                  <a:srgbClr val="00B050"/>
                </a:solidFill>
              </a:rPr>
              <a:t> *gyro;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endParaRPr kumimoji="1" lang="en-US" altLang="ja-JP" dirty="0"/>
          </a:p>
          <a:p>
            <a:r>
              <a:rPr lang="en-US" altLang="ja-JP" dirty="0"/>
              <a:t>sim.cpp</a:t>
            </a:r>
          </a:p>
          <a:p>
            <a:pPr lvl="1"/>
            <a:r>
              <a:rPr lang="ja-JP" altLang="en-US" dirty="0"/>
              <a:t>グローバル変数の宣言</a:t>
            </a:r>
            <a:r>
              <a:rPr kumimoji="1" lang="en-US" altLang="ja-JP" dirty="0"/>
              <a:t>: </a:t>
            </a:r>
            <a:r>
              <a:rPr kumimoji="1" lang="en-US" altLang="ja-JP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</a:t>
            </a:r>
            <a:r>
              <a:rPr kumimoji="1"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simdata.gyro</a:t>
            </a:r>
            <a:r>
              <a:rPr kumimoji="1"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1" lang="en-US" altLang="ja-JP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kumimoji="1"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</a:t>
            </a:r>
            <a:r>
              <a:rPr kumimoji="1"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ezGyro</a:t>
            </a:r>
            <a:r>
              <a:rPr kumimoji="1"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  <a:endParaRPr kumimoji="1" lang="en-US" altLang="ja-JP" b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ja-JP" dirty="0" err="1"/>
              <a:t>InitScene</a:t>
            </a:r>
            <a:r>
              <a:rPr lang="en-US" altLang="ja-JP" dirty="0"/>
              <a:t>: </a:t>
            </a:r>
            <a:r>
              <a:rPr lang="en-US" altLang="ja-JP" b="1" u="sng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simdata.zigsim</a:t>
            </a:r>
            <a:r>
              <a:rPr lang="en-US" altLang="ja-JP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&gt;open( </a:t>
            </a:r>
            <a:r>
              <a:rPr lang="en-US" altLang="ja-JP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ja-JP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115200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); </a:t>
            </a:r>
          </a:p>
          <a:p>
            <a:pPr lvl="1"/>
            <a:r>
              <a:rPr lang="en-US" altLang="ja-JP" dirty="0" smtClean="0">
                <a:solidFill>
                  <a:srgbClr val="FF0000"/>
                </a:solidFill>
              </a:rPr>
              <a:t>//1</a:t>
            </a:r>
            <a:r>
              <a:rPr lang="ja-JP" altLang="en-US" dirty="0" smtClean="0">
                <a:solidFill>
                  <a:srgbClr val="FF0000"/>
                </a:solidFill>
              </a:rPr>
              <a:t>番目の引数は</a:t>
            </a:r>
            <a:r>
              <a:rPr lang="en-US" altLang="ja-JP" dirty="0" smtClean="0">
                <a:solidFill>
                  <a:srgbClr val="FF0000"/>
                </a:solidFill>
              </a:rPr>
              <a:t>COM</a:t>
            </a:r>
            <a:r>
              <a:rPr lang="ja-JP" altLang="en-US" dirty="0" smtClean="0">
                <a:solidFill>
                  <a:srgbClr val="FF0000"/>
                </a:solidFill>
              </a:rPr>
              <a:t>ポート番号。デバイスマネージャーで調べた値を使う。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pPr lvl="1"/>
            <a:r>
              <a:rPr lang="en-US" altLang="ja-JP" dirty="0" smtClean="0">
                <a:solidFill>
                  <a:srgbClr val="FF0000"/>
                </a:solidFill>
              </a:rPr>
              <a:t>//2</a:t>
            </a:r>
            <a:r>
              <a:rPr lang="ja-JP" altLang="en-US" dirty="0" smtClean="0">
                <a:solidFill>
                  <a:srgbClr val="FF0000"/>
                </a:solidFill>
              </a:rPr>
              <a:t>番目の引数は通信速度。うまくいかなければ</a:t>
            </a:r>
            <a:r>
              <a:rPr lang="en-US" altLang="ja-JP" dirty="0" smtClean="0">
                <a:solidFill>
                  <a:srgbClr val="FF0000"/>
                </a:solidFill>
              </a:rPr>
              <a:t>115200</a:t>
            </a:r>
            <a:r>
              <a:rPr lang="ja-JP" altLang="en-US" dirty="0" smtClean="0">
                <a:solidFill>
                  <a:srgbClr val="FF0000"/>
                </a:solidFill>
              </a:rPr>
              <a:t>の代わりに</a:t>
            </a:r>
            <a:r>
              <a:rPr lang="en-US" altLang="ja-JP" dirty="0" smtClean="0">
                <a:solidFill>
                  <a:srgbClr val="FF0000"/>
                </a:solidFill>
              </a:rPr>
              <a:t>9600</a:t>
            </a:r>
            <a:r>
              <a:rPr lang="ja-JP" altLang="en-US" dirty="0" smtClean="0">
                <a:solidFill>
                  <a:srgbClr val="FF0000"/>
                </a:solidFill>
              </a:rPr>
              <a:t>を試す。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lvl="1"/>
            <a:r>
              <a:rPr lang="en-US" altLang="ja-JP" dirty="0" err="1"/>
              <a:t>UpdateScene</a:t>
            </a:r>
            <a:r>
              <a:rPr lang="en-US" altLang="ja-JP" dirty="0"/>
              <a:t>: </a:t>
            </a:r>
            <a:r>
              <a:rPr lang="en-US" altLang="ja-JP" b="1" u="sng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simdata.zigsim</a:t>
            </a:r>
            <a:r>
              <a:rPr lang="en-US" altLang="ja-JP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-&gt;update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  <a:endParaRPr lang="en-US" altLang="ja-JP" b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kumimoji="1" lang="en-US" altLang="ja-JP" dirty="0" err="1"/>
              <a:t>TermScene</a:t>
            </a:r>
            <a:r>
              <a:rPr kumimoji="1" lang="en-US" altLang="ja-JP" dirty="0"/>
              <a:t>: </a:t>
            </a:r>
            <a:r>
              <a:rPr kumimoji="1" lang="en-US" altLang="ja-JP" b="1" u="sng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simdata.zigsim</a:t>
            </a:r>
            <a:r>
              <a:rPr kumimoji="1" lang="en-US" altLang="ja-JP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kumimoji="1"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close</a:t>
            </a:r>
            <a:r>
              <a:rPr kumimoji="1"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  <a:endParaRPr kumimoji="1" lang="en-US" altLang="ja-JP" b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altLang="ja-JP" dirty="0">
              <a:solidFill>
                <a:srgbClr val="00B050"/>
              </a:solidFill>
            </a:endParaRPr>
          </a:p>
          <a:p>
            <a:r>
              <a:rPr kumimoji="1" lang="ja-JP" altLang="en-US" dirty="0">
                <a:solidFill>
                  <a:srgbClr val="00B050"/>
                </a:solidFill>
              </a:rPr>
              <a:t>参考としてデフォルトで設定してある機能</a:t>
            </a:r>
            <a:endParaRPr kumimoji="1" lang="en-US" altLang="ja-JP" dirty="0">
              <a:solidFill>
                <a:srgbClr val="00B050"/>
              </a:solidFill>
            </a:endParaRPr>
          </a:p>
          <a:p>
            <a:pPr lvl="1"/>
            <a:r>
              <a:rPr kumimoji="1" lang="en-US" altLang="ja-JP" dirty="0">
                <a:solidFill>
                  <a:srgbClr val="00B050"/>
                </a:solidFill>
              </a:rPr>
              <a:t>iPhone</a:t>
            </a:r>
            <a:r>
              <a:rPr kumimoji="1" lang="ja-JP" altLang="en-US" dirty="0">
                <a:solidFill>
                  <a:srgbClr val="00B050"/>
                </a:solidFill>
              </a:rPr>
              <a:t>を左右に向けると、視点が左右旋回し、</a:t>
            </a:r>
            <a:r>
              <a:rPr kumimoji="1" lang="en-US" altLang="ja-JP" dirty="0">
                <a:solidFill>
                  <a:srgbClr val="00B050"/>
                </a:solidFill>
              </a:rPr>
              <a:t>iPhone</a:t>
            </a:r>
            <a:r>
              <a:rPr kumimoji="1" lang="ja-JP" altLang="en-US" dirty="0">
                <a:solidFill>
                  <a:srgbClr val="00B050"/>
                </a:solidFill>
              </a:rPr>
              <a:t>を傾けると、前進・後退する。</a:t>
            </a:r>
            <a:endParaRPr kumimoji="1"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iPhone</a:t>
            </a:r>
            <a:r>
              <a:rPr lang="ja-JP" altLang="en-US" dirty="0">
                <a:solidFill>
                  <a:srgbClr val="00B050"/>
                </a:solidFill>
              </a:rPr>
              <a:t>の姿勢を「心臓」に連動させている。</a:t>
            </a:r>
            <a:endParaRPr kumimoji="1" lang="en-US" altLang="ja-JP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99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参考としてデフォルトで設定してある</a:t>
            </a:r>
            <a:r>
              <a:rPr lang="ja-JP" altLang="en-US" dirty="0" smtClean="0"/>
              <a:t>機能：移動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UpdateScene</a:t>
            </a:r>
            <a:r>
              <a:rPr lang="en-US" altLang="ja-JP" dirty="0" smtClean="0"/>
              <a:t>/sim.cpp</a:t>
            </a:r>
            <a:endParaRPr lang="en-US" altLang="ja-JP" dirty="0"/>
          </a:p>
          <a:p>
            <a:pPr lvl="1"/>
            <a:r>
              <a:rPr lang="en-US" altLang="ja-JP" dirty="0" smtClean="0">
                <a:solidFill>
                  <a:srgbClr val="00B050"/>
                </a:solidFill>
              </a:rPr>
              <a:t>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//</a:t>
            </a:r>
            <a:r>
              <a:rPr lang="ja-JP" altLang="en-US" dirty="0" smtClean="0">
                <a:solidFill>
                  <a:srgbClr val="00B050"/>
                </a:solidFill>
              </a:rPr>
              <a:t>左右に傾けると左右旋回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if 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 smtClean="0">
                <a:solidFill>
                  <a:srgbClr val="00B050"/>
                </a:solidFill>
              </a:rPr>
              <a:t>data.angle.roll</a:t>
            </a:r>
            <a:r>
              <a:rPr lang="en-US" altLang="ja-JP" dirty="0" smtClean="0">
                <a:solidFill>
                  <a:srgbClr val="00B050"/>
                </a:solidFill>
              </a:rPr>
              <a:t> </a:t>
            </a:r>
            <a:r>
              <a:rPr lang="en-US" altLang="ja-JP" dirty="0">
                <a:solidFill>
                  <a:srgbClr val="00B050"/>
                </a:solidFill>
              </a:rPr>
              <a:t>&gt; 5) 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	</a:t>
            </a:r>
            <a:r>
              <a:rPr lang="en-US" altLang="ja-JP" dirty="0" err="1">
                <a:solidFill>
                  <a:srgbClr val="00B050"/>
                </a:solidFill>
              </a:rPr>
              <a:t>simdata.player.turn</a:t>
            </a:r>
            <a:r>
              <a:rPr lang="en-US" altLang="ja-JP" dirty="0">
                <a:solidFill>
                  <a:srgbClr val="00B050"/>
                </a:solidFill>
              </a:rPr>
              <a:t> = 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data.angle.roll</a:t>
            </a:r>
            <a:r>
              <a:rPr lang="en-US" altLang="ja-JP" dirty="0">
                <a:solidFill>
                  <a:srgbClr val="00B050"/>
                </a:solidFill>
              </a:rPr>
              <a:t> - 5) * 0.0125;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}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if 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 smtClean="0">
                <a:solidFill>
                  <a:srgbClr val="00B050"/>
                </a:solidFill>
              </a:rPr>
              <a:t>data.angle.roll</a:t>
            </a:r>
            <a:r>
              <a:rPr lang="en-US" altLang="ja-JP" dirty="0" smtClean="0">
                <a:solidFill>
                  <a:srgbClr val="00B050"/>
                </a:solidFill>
              </a:rPr>
              <a:t> </a:t>
            </a:r>
            <a:r>
              <a:rPr lang="en-US" altLang="ja-JP" dirty="0">
                <a:solidFill>
                  <a:srgbClr val="00B050"/>
                </a:solidFill>
              </a:rPr>
              <a:t>&lt; -5) 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	</a:t>
            </a:r>
            <a:r>
              <a:rPr lang="en-US" altLang="ja-JP" dirty="0" err="1">
                <a:solidFill>
                  <a:srgbClr val="00B050"/>
                </a:solidFill>
              </a:rPr>
              <a:t>simdata.player.turn</a:t>
            </a:r>
            <a:r>
              <a:rPr lang="en-US" altLang="ja-JP" dirty="0">
                <a:solidFill>
                  <a:srgbClr val="00B050"/>
                </a:solidFill>
              </a:rPr>
              <a:t> = 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data.angle.roll</a:t>
            </a:r>
            <a:r>
              <a:rPr lang="en-US" altLang="ja-JP" dirty="0">
                <a:solidFill>
                  <a:srgbClr val="00B050"/>
                </a:solidFill>
              </a:rPr>
              <a:t> + 5) * 0.0125;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}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//</a:t>
            </a:r>
            <a:r>
              <a:rPr lang="ja-JP" altLang="en-US" dirty="0" smtClean="0">
                <a:solidFill>
                  <a:srgbClr val="00B050"/>
                </a:solidFill>
              </a:rPr>
              <a:t>前後に傾けると前進後退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if 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data.angle.pitch</a:t>
            </a:r>
            <a:r>
              <a:rPr lang="en-US" altLang="ja-JP" dirty="0">
                <a:solidFill>
                  <a:srgbClr val="00B050"/>
                </a:solidFill>
              </a:rPr>
              <a:t> &lt; -5) 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	</a:t>
            </a:r>
            <a:r>
              <a:rPr lang="en-US" altLang="ja-JP" dirty="0" err="1">
                <a:solidFill>
                  <a:srgbClr val="00B050"/>
                </a:solidFill>
              </a:rPr>
              <a:t>simdata.player.move</a:t>
            </a:r>
            <a:r>
              <a:rPr lang="en-US" altLang="ja-JP" dirty="0">
                <a:solidFill>
                  <a:srgbClr val="00B050"/>
                </a:solidFill>
              </a:rPr>
              <a:t> = -(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data.angle.pitch</a:t>
            </a:r>
            <a:r>
              <a:rPr lang="en-US" altLang="ja-JP" dirty="0">
                <a:solidFill>
                  <a:srgbClr val="00B050"/>
                </a:solidFill>
              </a:rPr>
              <a:t> + 5) * 0.0025;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}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if 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data.angle.pitch</a:t>
            </a:r>
            <a:r>
              <a:rPr lang="en-US" altLang="ja-JP" dirty="0">
                <a:solidFill>
                  <a:srgbClr val="00B050"/>
                </a:solidFill>
              </a:rPr>
              <a:t> &gt; 5) {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	</a:t>
            </a:r>
            <a:r>
              <a:rPr lang="en-US" altLang="ja-JP" dirty="0" err="1">
                <a:solidFill>
                  <a:srgbClr val="00B050"/>
                </a:solidFill>
              </a:rPr>
              <a:t>simdata.player.move</a:t>
            </a:r>
            <a:r>
              <a:rPr lang="en-US" altLang="ja-JP" dirty="0">
                <a:solidFill>
                  <a:srgbClr val="00B050"/>
                </a:solidFill>
              </a:rPr>
              <a:t> = -(</a:t>
            </a:r>
            <a:r>
              <a:rPr lang="en-US" altLang="ja-JP" dirty="0" err="1">
                <a:solidFill>
                  <a:srgbClr val="00B050"/>
                </a:solidFill>
              </a:rPr>
              <a:t>simdata.gyro</a:t>
            </a:r>
            <a:r>
              <a:rPr lang="en-US" altLang="ja-JP" dirty="0">
                <a:solidFill>
                  <a:srgbClr val="00B050"/>
                </a:solidFill>
              </a:rPr>
              <a:t>-&gt;</a:t>
            </a:r>
            <a:r>
              <a:rPr lang="en-US" altLang="ja-JP" dirty="0" err="1">
                <a:solidFill>
                  <a:srgbClr val="00B050"/>
                </a:solidFill>
              </a:rPr>
              <a:t>data.angle.pitch</a:t>
            </a:r>
            <a:r>
              <a:rPr lang="en-US" altLang="ja-JP" dirty="0">
                <a:solidFill>
                  <a:srgbClr val="00B050"/>
                </a:solidFill>
              </a:rPr>
              <a:t> - 5) * 0.0025;</a:t>
            </a:r>
          </a:p>
          <a:p>
            <a:pPr lvl="1"/>
            <a:r>
              <a:rPr lang="en-US" altLang="ja-JP" dirty="0">
                <a:solidFill>
                  <a:srgbClr val="00B050"/>
                </a:solidFill>
              </a:rPr>
              <a:t>	</a:t>
            </a:r>
            <a:r>
              <a:rPr lang="en-US" altLang="ja-JP" dirty="0" smtClean="0">
                <a:solidFill>
                  <a:srgbClr val="00B050"/>
                </a:solidFill>
              </a:rPr>
              <a:t>}</a:t>
            </a:r>
            <a:endParaRPr lang="en-US" altLang="ja-JP" dirty="0">
              <a:solidFill>
                <a:srgbClr val="00B050"/>
              </a:solidFill>
            </a:endParaRPr>
          </a:p>
          <a:p>
            <a:pPr lvl="1"/>
            <a:r>
              <a:rPr lang="en-US" altLang="ja-JP" dirty="0" smtClean="0">
                <a:solidFill>
                  <a:srgbClr val="00B050"/>
                </a:solidFill>
              </a:rPr>
              <a:t>}</a:t>
            </a:r>
            <a:endParaRPr lang="en-US" altLang="ja-JP" dirty="0"/>
          </a:p>
          <a:p>
            <a:pPr lvl="1"/>
            <a:r>
              <a:rPr lang="en-US" altLang="ja-JP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MoveObject</a:t>
            </a:r>
            <a:r>
              <a:rPr lang="en-US" altLang="ja-JP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(&amp;</a:t>
            </a:r>
            <a:r>
              <a:rPr lang="en-US" altLang="ja-JP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simdata.player</a:t>
            </a:r>
            <a:r>
              <a:rPr lang="en-US" altLang="ja-JP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 //</a:t>
            </a:r>
            <a:r>
              <a:rPr lang="ja-JP" alt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プレイヤ視点の移動を実行する</a:t>
            </a:r>
            <a:endParaRPr kumimoji="1" lang="ja-JP" alt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522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PC</a:t>
            </a:r>
            <a:r>
              <a:rPr kumimoji="1" lang="ja-JP" altLang="en-US" dirty="0"/>
              <a:t>のカメラを使う～</a:t>
            </a:r>
            <a:r>
              <a:rPr kumimoji="1" lang="en-US" altLang="ja-JP" dirty="0" err="1"/>
              <a:t>ezCamera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内蔵カメラ、</a:t>
            </a:r>
            <a:r>
              <a:rPr lang="en-US" altLang="ja-JP" dirty="0"/>
              <a:t>USB</a:t>
            </a:r>
            <a:r>
              <a:rPr lang="ja-JP" altLang="en-US" dirty="0"/>
              <a:t>カメラデバイス対応、撮影してファイルを保存もできます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828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カメラデバイス名を確認する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システムのデバイスマネージャーを起動して、使える</a:t>
            </a:r>
            <a:r>
              <a:rPr lang="ja-JP" altLang="en-US" u="sng" dirty="0"/>
              <a:t>カメラデバイスの名前を確認</a:t>
            </a:r>
            <a:r>
              <a:rPr lang="ja-JP" altLang="en-US" dirty="0"/>
              <a:t>しておく</a:t>
            </a:r>
            <a:endParaRPr lang="en-US" altLang="ja-JP" dirty="0"/>
          </a:p>
          <a:p>
            <a:pPr lvl="1"/>
            <a:r>
              <a:rPr kumimoji="1" lang="ja-JP" altLang="en-US" dirty="0"/>
              <a:t>エクスプローラ（ファイルブラウザ）≫</a:t>
            </a:r>
            <a:r>
              <a:rPr kumimoji="1" lang="en-US" altLang="ja-JP" dirty="0"/>
              <a:t>PC</a:t>
            </a:r>
            <a:r>
              <a:rPr kumimoji="1" lang="ja-JP" altLang="en-US" dirty="0"/>
              <a:t>≫デバイスマネージャー≫カメラ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284" y="1733176"/>
            <a:ext cx="6779730" cy="4965094"/>
          </a:xfrm>
          <a:prstGeom prst="rect">
            <a:avLst/>
          </a:prstGeom>
        </p:spPr>
      </p:pic>
      <p:sp>
        <p:nvSpPr>
          <p:cNvPr id="6" name="楕円 5"/>
          <p:cNvSpPr/>
          <p:nvPr/>
        </p:nvSpPr>
        <p:spPr>
          <a:xfrm>
            <a:off x="4219575" y="3224213"/>
            <a:ext cx="1838325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676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iVR</a:t>
            </a:r>
            <a:r>
              <a:rPr lang="ja-JP" altLang="en-US" dirty="0"/>
              <a:t>基本プログラムの準備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ソースファイルとヘッダファイルはすでに組み込んであります（済）</a:t>
            </a:r>
          </a:p>
          <a:p>
            <a:endParaRPr lang="en-US" dirty="0"/>
          </a:p>
          <a:p>
            <a:r>
              <a:rPr lang="en-US" dirty="0" err="1"/>
              <a:t>sim.h</a:t>
            </a:r>
            <a:r>
              <a:rPr lang="ja-JP" altLang="en-US" dirty="0"/>
              <a:t>にヘッダファイル追加（済）</a:t>
            </a:r>
            <a:endParaRPr lang="en-US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#include “</a:t>
            </a:r>
            <a:r>
              <a:rPr lang="en-US" b="1" dirty="0" err="1">
                <a:solidFill>
                  <a:srgbClr val="00B050"/>
                </a:solidFill>
              </a:rPr>
              <a:t>image.h</a:t>
            </a:r>
            <a:r>
              <a:rPr lang="en-US" b="1" dirty="0">
                <a:solidFill>
                  <a:srgbClr val="00B050"/>
                </a:solidFill>
              </a:rPr>
              <a:t>”</a:t>
            </a: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/>
              <a:t>SimDataT</a:t>
            </a:r>
            <a:r>
              <a:rPr lang="ja-JP" altLang="en-US" dirty="0"/>
              <a:t>にメンバ変数追加</a:t>
            </a:r>
            <a:endParaRPr lang="en-US" dirty="0"/>
          </a:p>
          <a:p>
            <a:pPr lvl="1"/>
            <a:r>
              <a:rPr lang="en-US" b="1" dirty="0" err="1">
                <a:solidFill>
                  <a:srgbClr val="FF0000"/>
                </a:solidFill>
              </a:rPr>
              <a:t>ezCamera</a:t>
            </a:r>
            <a:r>
              <a:rPr lang="en-US" b="1" dirty="0">
                <a:solidFill>
                  <a:srgbClr val="FF0000"/>
                </a:solidFill>
              </a:rPr>
              <a:t> *</a:t>
            </a:r>
            <a:r>
              <a:rPr lang="en-US" b="1" dirty="0" err="1">
                <a:solidFill>
                  <a:srgbClr val="FF0000"/>
                </a:solidFill>
              </a:rPr>
              <a:t>mycamera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pPr lvl="1"/>
            <a:endParaRPr lang="en-US" dirty="0"/>
          </a:p>
          <a:p>
            <a:r>
              <a:rPr lang="en-US" dirty="0" err="1"/>
              <a:t>InitScene</a:t>
            </a:r>
            <a:r>
              <a:rPr lang="en-US" dirty="0"/>
              <a:t>/sim.cpp</a:t>
            </a:r>
            <a:r>
              <a:rPr lang="ja-JP" altLang="en-US" dirty="0"/>
              <a:t>で初期化</a:t>
            </a:r>
            <a:endParaRPr lang="en-US" altLang="ja-JP" dirty="0"/>
          </a:p>
          <a:p>
            <a:pPr lvl="1"/>
            <a:r>
              <a:rPr lang="en-US" b="1" dirty="0" err="1">
                <a:solidFill>
                  <a:srgbClr val="FF0000"/>
                </a:solidFill>
              </a:rPr>
              <a:t>simdata.mycamera</a:t>
            </a:r>
            <a:r>
              <a:rPr lang="en-US" b="1" dirty="0">
                <a:solidFill>
                  <a:srgbClr val="FF0000"/>
                </a:solidFill>
              </a:rPr>
              <a:t> = new </a:t>
            </a:r>
            <a:r>
              <a:rPr lang="en-US" b="1" dirty="0" err="1">
                <a:solidFill>
                  <a:srgbClr val="FF0000"/>
                </a:solidFill>
              </a:rPr>
              <a:t>ezCamere</a:t>
            </a:r>
            <a:r>
              <a:rPr lang="en-US" b="1" dirty="0">
                <a:solidFill>
                  <a:srgbClr val="FF0000"/>
                </a:solidFill>
              </a:rPr>
              <a:t>();</a:t>
            </a:r>
          </a:p>
          <a:p>
            <a:pPr lvl="1"/>
            <a:r>
              <a:rPr lang="en-US" b="1" dirty="0" err="1">
                <a:solidFill>
                  <a:srgbClr val="FF0000"/>
                </a:solidFill>
              </a:rPr>
              <a:t>s</a:t>
            </a:r>
            <a:r>
              <a:rPr lang="en-US" b="1" dirty="0" err="1" smtClean="0">
                <a:solidFill>
                  <a:srgbClr val="FF0000"/>
                </a:solidFill>
              </a:rPr>
              <a:t>imdata.mycamera</a:t>
            </a:r>
            <a:r>
              <a:rPr lang="en-US" b="1" dirty="0" smtClean="0">
                <a:solidFill>
                  <a:srgbClr val="FF0000"/>
                </a:solidFill>
              </a:rPr>
              <a:t>-</a:t>
            </a:r>
            <a:r>
              <a:rPr lang="en-US" b="1" dirty="0">
                <a:solidFill>
                  <a:srgbClr val="FF0000"/>
                </a:solidFill>
              </a:rPr>
              <a:t>&gt;open( 0, 640, 480, 30.0, GL_BGRA_EXT, </a:t>
            </a:r>
            <a:r>
              <a:rPr lang="en-US" b="1" u="sng" dirty="0">
                <a:solidFill>
                  <a:srgbClr val="FF0000"/>
                </a:solidFill>
              </a:rPr>
              <a:t>“USB Camera”</a:t>
            </a:r>
            <a:r>
              <a:rPr lang="en-US" b="1" dirty="0">
                <a:solidFill>
                  <a:srgbClr val="FF0000"/>
                </a:solidFill>
              </a:rPr>
              <a:t> );//</a:t>
            </a:r>
            <a:r>
              <a:rPr lang="ja-JP" altLang="en-US" b="1" dirty="0">
                <a:solidFill>
                  <a:srgbClr val="FF0000"/>
                </a:solidFill>
              </a:rPr>
              <a:t>カメラ名は</a:t>
            </a:r>
            <a:r>
              <a:rPr lang="en-US" altLang="ja-JP" b="1" dirty="0">
                <a:solidFill>
                  <a:srgbClr val="FF0000"/>
                </a:solidFill>
              </a:rPr>
              <a:t>PC</a:t>
            </a:r>
            <a:r>
              <a:rPr lang="ja-JP" altLang="en-US" b="1" dirty="0">
                <a:solidFill>
                  <a:srgbClr val="FF0000"/>
                </a:solidFill>
              </a:rPr>
              <a:t>ごとに確認すること</a:t>
            </a:r>
            <a:endParaRPr lang="en-US" altLang="ja-JP" b="1" dirty="0">
              <a:solidFill>
                <a:srgbClr val="FF0000"/>
              </a:solidFill>
            </a:endParaRP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r>
              <a:rPr lang="en-US" altLang="ja-JP" b="1" dirty="0" err="1"/>
              <a:t>UpdateScene</a:t>
            </a:r>
            <a:r>
              <a:rPr lang="en-US" altLang="ja-JP" b="1" dirty="0"/>
              <a:t>/sim.cpp</a:t>
            </a:r>
            <a:r>
              <a:rPr lang="ja-JP" altLang="en-US" b="1" dirty="0"/>
              <a:t>で画像取得</a:t>
            </a:r>
            <a:endParaRPr lang="en-US" altLang="ja-JP" b="1" dirty="0"/>
          </a:p>
          <a:p>
            <a:pPr lvl="1"/>
            <a:r>
              <a:rPr lang="en-US" altLang="ja-JP" b="1" dirty="0" err="1">
                <a:solidFill>
                  <a:srgbClr val="FF0000"/>
                </a:solidFill>
              </a:rPr>
              <a:t>s</a:t>
            </a:r>
            <a:r>
              <a:rPr lang="en-US" altLang="ja-JP" b="1" dirty="0" err="1" smtClean="0">
                <a:solidFill>
                  <a:srgbClr val="FF0000"/>
                </a:solidFill>
              </a:rPr>
              <a:t>imdata.mycamera</a:t>
            </a:r>
            <a:r>
              <a:rPr lang="en-US" altLang="ja-JP" b="1" dirty="0" smtClean="0">
                <a:solidFill>
                  <a:srgbClr val="FF0000"/>
                </a:solidFill>
              </a:rPr>
              <a:t>-</a:t>
            </a:r>
            <a:r>
              <a:rPr lang="en-US" altLang="ja-JP" b="1" dirty="0">
                <a:solidFill>
                  <a:srgbClr val="FF0000"/>
                </a:solidFill>
              </a:rPr>
              <a:t>&gt;update();</a:t>
            </a:r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r>
              <a:rPr lang="en-US" dirty="0" err="1"/>
              <a:t>DrawScene</a:t>
            </a:r>
            <a:r>
              <a:rPr lang="en-US" dirty="0"/>
              <a:t>/draw.cpp</a:t>
            </a:r>
            <a:r>
              <a:rPr lang="ja-JP" altLang="en-US" dirty="0"/>
              <a:t>で描画（必要に応じてライティングをオフにすること）</a:t>
            </a:r>
            <a:endParaRPr lang="en-US" altLang="ja-JP" dirty="0"/>
          </a:p>
          <a:p>
            <a:pPr lvl="1"/>
            <a:r>
              <a:rPr lang="en-US" b="1" dirty="0" err="1">
                <a:solidFill>
                  <a:srgbClr val="FF0000"/>
                </a:solidFill>
              </a:rPr>
              <a:t>s</a:t>
            </a:r>
            <a:r>
              <a:rPr lang="en-US" b="1" dirty="0" err="1" smtClean="0">
                <a:solidFill>
                  <a:srgbClr val="FF0000"/>
                </a:solidFill>
              </a:rPr>
              <a:t>imdata.mycamera</a:t>
            </a:r>
            <a:r>
              <a:rPr lang="en-US" b="1" dirty="0" smtClean="0">
                <a:solidFill>
                  <a:srgbClr val="FF0000"/>
                </a:solidFill>
              </a:rPr>
              <a:t>-</a:t>
            </a:r>
            <a:r>
              <a:rPr lang="en-US" b="1" dirty="0">
                <a:solidFill>
                  <a:srgbClr val="FF0000"/>
                </a:solidFill>
              </a:rPr>
              <a:t>&gt;draw(); //</a:t>
            </a:r>
            <a:r>
              <a:rPr lang="ja-JP" altLang="en-US" b="1" dirty="0">
                <a:solidFill>
                  <a:srgbClr val="FF0000"/>
                </a:solidFill>
              </a:rPr>
              <a:t>デフォルト</a:t>
            </a:r>
            <a:r>
              <a:rPr lang="en-US" altLang="ja-JP" b="1" dirty="0">
                <a:solidFill>
                  <a:srgbClr val="FF0000"/>
                </a:solidFill>
              </a:rPr>
              <a:t>XY</a:t>
            </a:r>
            <a:r>
              <a:rPr lang="ja-JP" altLang="en-US" b="1" dirty="0">
                <a:solidFill>
                  <a:srgbClr val="FF0000"/>
                </a:solidFill>
              </a:rPr>
              <a:t>平面上、左下原点、縦横サイズ各</a:t>
            </a:r>
            <a:r>
              <a:rPr lang="en-US" altLang="ja-JP" b="1" dirty="0">
                <a:solidFill>
                  <a:srgbClr val="FF0000"/>
                </a:solidFill>
              </a:rPr>
              <a:t>1.0</a:t>
            </a:r>
            <a:r>
              <a:rPr lang="ja-JP" altLang="en-US" b="1" dirty="0" err="1">
                <a:solidFill>
                  <a:srgbClr val="FF0000"/>
                </a:solidFill>
              </a:rPr>
              <a:t>で描</a:t>
            </a:r>
            <a:r>
              <a:rPr lang="ja-JP" altLang="en-US" b="1" dirty="0">
                <a:solidFill>
                  <a:srgbClr val="FF0000"/>
                </a:solidFill>
              </a:rPr>
              <a:t>画される</a:t>
            </a:r>
            <a:r>
              <a:rPr lang="en-US" altLang="ja-JP" b="1" dirty="0">
                <a:solidFill>
                  <a:srgbClr val="FF0000"/>
                </a:solidFill>
              </a:rPr>
              <a:t/>
            </a:r>
            <a:br>
              <a:rPr lang="en-US" altLang="ja-JP" b="1" dirty="0">
                <a:solidFill>
                  <a:srgbClr val="FF0000"/>
                </a:solidFill>
              </a:rPr>
            </a:br>
            <a:r>
              <a:rPr lang="ja-JP" altLang="en-US" dirty="0"/>
              <a:t>（</a:t>
            </a:r>
            <a:r>
              <a:rPr lang="en-US" altLang="ja-JP" dirty="0" err="1"/>
              <a:t>ObjDataT</a:t>
            </a:r>
            <a:r>
              <a:rPr lang="ja-JP" altLang="en-US" dirty="0"/>
              <a:t>型変数の</a:t>
            </a:r>
            <a:r>
              <a:rPr lang="en-US" altLang="ja-JP" dirty="0" err="1"/>
              <a:t>applyObjTransform</a:t>
            </a:r>
            <a:r>
              <a:rPr lang="ja-JP" altLang="en-US" dirty="0"/>
              <a:t>と組み合わせるなど、適切な座標変換をおこなうこと）</a:t>
            </a:r>
            <a:endParaRPr lang="en-US" altLang="ja-JP" dirty="0"/>
          </a:p>
          <a:p>
            <a:pPr lvl="1"/>
            <a:r>
              <a:rPr lang="ja-JP" altLang="en-US" dirty="0"/>
              <a:t>省略した引数の詳細については、</a:t>
            </a:r>
            <a:r>
              <a:rPr lang="en-US" altLang="ja-JP" dirty="0" err="1"/>
              <a:t>image.h</a:t>
            </a:r>
            <a:r>
              <a:rPr lang="ja-JP" altLang="en-US" dirty="0"/>
              <a:t>の中を参照のこと</a:t>
            </a:r>
            <a:endParaRPr lang="en-US" altLang="ja-JP" dirty="0"/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39319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910" y="1196409"/>
            <a:ext cx="5973743" cy="488632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iVR</a:t>
            </a:r>
            <a:r>
              <a:rPr kumimoji="1" lang="ja-JP" altLang="en-US" dirty="0"/>
              <a:t>基本プログラムの実行～カメラ設定パネル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プログラムを起動するとカメラパネルが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表示されます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カメラにインジケータがついている場合には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点灯します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オートゲインに✓が入っていると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カメラ画像の更新が遅くなることがあります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ホワイトバランスも含めて、自動項目の</a:t>
            </a:r>
            <a:r>
              <a:rPr lang="en-US" altLang="ja-JP" dirty="0">
                <a:solidFill>
                  <a:srgbClr val="FF0000"/>
                </a:solidFill>
              </a:rPr>
              <a:t/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>
                <a:solidFill>
                  <a:srgbClr val="FF0000"/>
                </a:solidFill>
              </a:rPr>
              <a:t>チェックは外しておくことを勧めます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/>
          </a:p>
          <a:p>
            <a:r>
              <a:rPr lang="ja-JP" altLang="en-US" dirty="0"/>
              <a:t>ちらつき補正は</a:t>
            </a:r>
            <a:r>
              <a:rPr lang="en-US" altLang="ja-JP" dirty="0">
                <a:solidFill>
                  <a:srgbClr val="FF0000"/>
                </a:solidFill>
              </a:rPr>
              <a:t>60Hz</a:t>
            </a:r>
            <a:r>
              <a:rPr lang="ja-JP" altLang="en-US" dirty="0"/>
              <a:t>を選択してください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カメラ制御タブの方も、低光量補正などの</a:t>
            </a:r>
            <a:r>
              <a:rPr lang="en-US" altLang="ja-JP" dirty="0">
                <a:solidFill>
                  <a:srgbClr val="FF0000"/>
                </a:solidFill>
              </a:rPr>
              <a:t/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>
                <a:solidFill>
                  <a:srgbClr val="FF0000"/>
                </a:solidFill>
              </a:rPr>
              <a:t>チェックは外した方が更新は早いです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/>
          </a:p>
          <a:p>
            <a:r>
              <a:rPr lang="en-US" altLang="ja-JP" dirty="0"/>
              <a:t>OK</a:t>
            </a:r>
            <a:r>
              <a:rPr lang="ja-JP" altLang="en-US" dirty="0"/>
              <a:t>を押してください</a:t>
            </a:r>
            <a:r>
              <a:rPr lang="en-US" altLang="ja-JP" dirty="0"/>
              <a:t/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5" name="楕円 4"/>
          <p:cNvSpPr/>
          <p:nvPr/>
        </p:nvSpPr>
        <p:spPr>
          <a:xfrm>
            <a:off x="10939463" y="4467225"/>
            <a:ext cx="485775" cy="295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/>
          <p:cNvSpPr/>
          <p:nvPr/>
        </p:nvSpPr>
        <p:spPr>
          <a:xfrm>
            <a:off x="10939462" y="3934619"/>
            <a:ext cx="485775" cy="295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/>
          <p:cNvSpPr/>
          <p:nvPr/>
        </p:nvSpPr>
        <p:spPr>
          <a:xfrm>
            <a:off x="10217944" y="4762500"/>
            <a:ext cx="1016793" cy="3373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5091113" y="4391025"/>
            <a:ext cx="5091112" cy="4953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>
            <a:endCxn id="6" idx="2"/>
          </p:cNvCxnSpPr>
          <p:nvPr/>
        </p:nvCxnSpPr>
        <p:spPr>
          <a:xfrm>
            <a:off x="4972051" y="3596142"/>
            <a:ext cx="5967411" cy="48611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>
            <a:endCxn id="5" idx="2"/>
          </p:cNvCxnSpPr>
          <p:nvPr/>
        </p:nvCxnSpPr>
        <p:spPr>
          <a:xfrm>
            <a:off x="5329239" y="3110027"/>
            <a:ext cx="5610224" cy="150483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19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カメラ設定パネル～カメラ制御タブ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露出・低光量補正のチェックを外した方が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画像更新が早いです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577" y="1462088"/>
            <a:ext cx="5983448" cy="4894262"/>
          </a:xfrm>
          <a:prstGeom prst="rect">
            <a:avLst/>
          </a:prstGeom>
        </p:spPr>
      </p:pic>
      <p:sp>
        <p:nvSpPr>
          <p:cNvPr id="6" name="楕円 5"/>
          <p:cNvSpPr/>
          <p:nvPr/>
        </p:nvSpPr>
        <p:spPr>
          <a:xfrm>
            <a:off x="10774280" y="3204030"/>
            <a:ext cx="485775" cy="295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/>
          <p:cNvSpPr/>
          <p:nvPr/>
        </p:nvSpPr>
        <p:spPr>
          <a:xfrm>
            <a:off x="7642306" y="4736307"/>
            <a:ext cx="485775" cy="295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/>
          <p:cNvCxnSpPr>
            <a:endCxn id="6" idx="2"/>
          </p:cNvCxnSpPr>
          <p:nvPr/>
        </p:nvCxnSpPr>
        <p:spPr>
          <a:xfrm>
            <a:off x="4899107" y="1600373"/>
            <a:ext cx="5875173" cy="175129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>
            <a:endCxn id="7" idx="1"/>
          </p:cNvCxnSpPr>
          <p:nvPr/>
        </p:nvCxnSpPr>
        <p:spPr>
          <a:xfrm>
            <a:off x="4519614" y="1616702"/>
            <a:ext cx="3193832" cy="316284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67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カメラで撮影した画像をファイルに保存する方法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例えば、キーボードコールバックなどで、下記の一文を追加する</a:t>
            </a:r>
            <a:endParaRPr kumimoji="1" lang="en-US" altLang="ja-JP" dirty="0" smtClean="0"/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3582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サウンドを</a:t>
            </a:r>
            <a:r>
              <a:rPr lang="ja-JP" altLang="en-US" dirty="0" smtClean="0"/>
              <a:t>使う～</a:t>
            </a:r>
            <a:r>
              <a:rPr kumimoji="1" lang="en-US" altLang="ja-JP" dirty="0" err="1" smtClean="0"/>
              <a:t>OpenAL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43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ソフトウェアの</a:t>
            </a:r>
            <a:r>
              <a:rPr kumimoji="1" lang="ja-JP" altLang="en-US" dirty="0" smtClean="0"/>
              <a:t>インストール（済）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https://www.openal.org/downloads/</a:t>
            </a:r>
            <a:endParaRPr lang="en-US" altLang="ja-JP" dirty="0"/>
          </a:p>
          <a:p>
            <a:pPr lvl="1"/>
            <a:r>
              <a:rPr kumimoji="1" lang="en-US" altLang="ja-JP" dirty="0" err="1"/>
              <a:t>OpenAL</a:t>
            </a:r>
            <a:r>
              <a:rPr kumimoji="1" lang="en-US" altLang="ja-JP" dirty="0"/>
              <a:t> 1.1 Core SDK </a:t>
            </a:r>
            <a:r>
              <a:rPr lang="en-US" altLang="ja-JP" dirty="0"/>
              <a:t>(</a:t>
            </a:r>
            <a:r>
              <a:rPr kumimoji="1" lang="en-US" altLang="ja-JP" dirty="0"/>
              <a:t>zip)</a:t>
            </a:r>
          </a:p>
          <a:p>
            <a:pPr lvl="1"/>
            <a:r>
              <a:rPr lang="en-US" altLang="ja-JP" dirty="0" err="1"/>
              <a:t>OpenAL</a:t>
            </a:r>
            <a:r>
              <a:rPr lang="en-US" altLang="ja-JP" dirty="0"/>
              <a:t> 1.1 Windows Install (zip)</a:t>
            </a:r>
          </a:p>
          <a:p>
            <a:pPr lvl="1"/>
            <a:endParaRPr kumimoji="1" lang="en-US" altLang="ja-JP" dirty="0"/>
          </a:p>
          <a:p>
            <a:r>
              <a:rPr lang="en-US" altLang="ja-JP" dirty="0" err="1"/>
              <a:t>OpenAL</a:t>
            </a:r>
            <a:r>
              <a:rPr lang="en-US" altLang="ja-JP" dirty="0"/>
              <a:t> 1.1 </a:t>
            </a:r>
            <a:r>
              <a:rPr lang="en-US" altLang="ja-JP" dirty="0" err="1"/>
              <a:t>Widnows</a:t>
            </a:r>
            <a:r>
              <a:rPr lang="en-US" altLang="ja-JP" dirty="0"/>
              <a:t> </a:t>
            </a:r>
            <a:r>
              <a:rPr lang="en-US" altLang="ja-JP" dirty="0" smtClean="0"/>
              <a:t>Install.zip </a:t>
            </a:r>
            <a:r>
              <a:rPr lang="ja-JP" altLang="en-US" dirty="0" smtClean="0"/>
              <a:t>を</a:t>
            </a:r>
            <a:r>
              <a:rPr lang="ja-JP" altLang="en-US" dirty="0"/>
              <a:t>インストールする</a:t>
            </a:r>
            <a:endParaRPr lang="en-US" altLang="ja-JP" dirty="0"/>
          </a:p>
          <a:p>
            <a:pPr lvl="1"/>
            <a:r>
              <a:rPr kumimoji="1" lang="ja-JP" altLang="en-US" dirty="0"/>
              <a:t>展開</a:t>
            </a:r>
            <a:endParaRPr kumimoji="1" lang="en-US" altLang="ja-JP" dirty="0"/>
          </a:p>
          <a:p>
            <a:pPr lvl="1"/>
            <a:r>
              <a:rPr lang="en-US" altLang="ja-JP" dirty="0"/>
              <a:t>oalinst.exe</a:t>
            </a:r>
            <a:r>
              <a:rPr lang="ja-JP" altLang="en-US" dirty="0"/>
              <a:t>を実行する</a:t>
            </a:r>
            <a:endParaRPr lang="en-US" altLang="ja-JP" dirty="0"/>
          </a:p>
          <a:p>
            <a:pPr lvl="1"/>
            <a:r>
              <a:rPr lang="ja-JP" altLang="en-US" dirty="0"/>
              <a:t>システムに</a:t>
            </a:r>
            <a:r>
              <a:rPr lang="en-US" altLang="ja-JP" dirty="0"/>
              <a:t>OpenAL.dll</a:t>
            </a:r>
            <a:r>
              <a:rPr lang="ja-JP" altLang="en-US" dirty="0"/>
              <a:t>がインストールされる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r>
              <a:rPr kumimoji="1" lang="en-US" altLang="ja-JP" dirty="0" err="1"/>
              <a:t>OpenAL</a:t>
            </a:r>
            <a:r>
              <a:rPr kumimoji="1" lang="en-US" altLang="ja-JP" dirty="0"/>
              <a:t> 1.1 Core </a:t>
            </a:r>
            <a:r>
              <a:rPr kumimoji="1" lang="en-US" altLang="ja-JP" dirty="0" smtClean="0"/>
              <a:t>SDK.zip </a:t>
            </a:r>
            <a:r>
              <a:rPr kumimoji="1" lang="ja-JP" altLang="en-US" dirty="0"/>
              <a:t>をインストールする</a:t>
            </a:r>
            <a:endParaRPr kumimoji="1" lang="en-US" altLang="ja-JP" dirty="0"/>
          </a:p>
          <a:p>
            <a:pPr lvl="1"/>
            <a:r>
              <a:rPr lang="ja-JP" altLang="en-US" dirty="0"/>
              <a:t>展開</a:t>
            </a:r>
            <a:endParaRPr lang="en-US" altLang="ja-JP" dirty="0"/>
          </a:p>
          <a:p>
            <a:pPr lvl="1"/>
            <a:r>
              <a:rPr lang="en-US" altLang="ja-JP" dirty="0"/>
              <a:t>OpenAL11CoreSDK.exe</a:t>
            </a:r>
            <a:r>
              <a:rPr lang="ja-JP" altLang="en-US" dirty="0"/>
              <a:t>を実行する</a:t>
            </a:r>
            <a:endParaRPr lang="en-US" altLang="ja-JP" dirty="0"/>
          </a:p>
          <a:p>
            <a:pPr lvl="1"/>
            <a:r>
              <a:rPr kumimoji="1" lang="en-US" altLang="ja-JP" dirty="0"/>
              <a:t>C:\Program Files (x86)</a:t>
            </a:r>
            <a:r>
              <a:rPr kumimoji="1" lang="en-US" altLang="ja-JP" dirty="0" err="1"/>
              <a:t>OpenAL</a:t>
            </a:r>
            <a:r>
              <a:rPr kumimoji="1" lang="en-US" altLang="ja-JP" dirty="0"/>
              <a:t> 1.1 SDK\</a:t>
            </a:r>
            <a:r>
              <a:rPr kumimoji="1" lang="ja-JP" altLang="en-US" dirty="0"/>
              <a:t>にリソースがコピーされる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921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60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InertiaCube</a:t>
            </a:r>
            <a:r>
              <a:rPr kumimoji="1" lang="ja-JP" altLang="en-US" dirty="0" smtClean="0"/>
              <a:t>を使う～</a:t>
            </a:r>
            <a:r>
              <a:rPr kumimoji="1" lang="en-US" altLang="ja-JP" dirty="0" smtClean="0"/>
              <a:t>VR</a:t>
            </a:r>
            <a:r>
              <a:rPr kumimoji="1" lang="ja-JP" altLang="en-US" dirty="0" smtClean="0"/>
              <a:t>ジャイロ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 err="1"/>
              <a:t>InterSense</a:t>
            </a:r>
            <a:r>
              <a:rPr lang="ja-JP" altLang="en-US" dirty="0"/>
              <a:t>社製 </a:t>
            </a:r>
            <a:r>
              <a:rPr lang="en-US" altLang="ja-JP" dirty="0"/>
              <a:t>InertiaCube2, 3</a:t>
            </a:r>
            <a:r>
              <a:rPr lang="ja-JP" altLang="en-US" dirty="0"/>
              <a:t>対応</a:t>
            </a:r>
          </a:p>
          <a:p>
            <a:r>
              <a:rPr kumimoji="1" lang="en-US" altLang="ja-JP" dirty="0" smtClean="0">
                <a:solidFill>
                  <a:srgbClr val="FF0000"/>
                </a:solidFill>
              </a:rPr>
              <a:t>※</a:t>
            </a:r>
            <a:r>
              <a:rPr kumimoji="1" lang="ja-JP" altLang="en-US" dirty="0" smtClean="0">
                <a:solidFill>
                  <a:srgbClr val="FF0000"/>
                </a:solidFill>
              </a:rPr>
              <a:t>履歴として記載を残しています</a:t>
            </a:r>
            <a:r>
              <a:rPr lang="ja-JP" altLang="en-US" dirty="0">
                <a:solidFill>
                  <a:srgbClr val="FF0000"/>
                </a:solidFill>
              </a:rPr>
              <a:t>が</a:t>
            </a:r>
            <a:r>
              <a:rPr lang="ja-JP" altLang="en-US" dirty="0" smtClean="0">
                <a:solidFill>
                  <a:srgbClr val="FF0000"/>
                </a:solidFill>
              </a:rPr>
              <a:t>、デバイスがないので使えません</a:t>
            </a:r>
            <a:endParaRPr lang="en-US" altLang="ja-JP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175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デバイスの準備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InterSense</a:t>
            </a:r>
            <a:r>
              <a:rPr kumimoji="1" lang="ja-JP" altLang="en-US" dirty="0" smtClean="0"/>
              <a:t>社製 </a:t>
            </a:r>
            <a:r>
              <a:rPr kumimoji="1" lang="en-US" altLang="ja-JP" dirty="0" err="1" smtClean="0"/>
              <a:t>InterTrax</a:t>
            </a:r>
            <a:r>
              <a:rPr kumimoji="1" lang="en-US" altLang="ja-JP" dirty="0" smtClean="0"/>
              <a:t>, InertiaCube2/3/4</a:t>
            </a:r>
            <a:r>
              <a:rPr kumimoji="1" lang="ja-JP" altLang="en-US" dirty="0" smtClean="0"/>
              <a:t>対応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8673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プログラムの</a:t>
            </a:r>
            <a:r>
              <a:rPr lang="ja-JP" altLang="en-US" dirty="0" smtClean="0"/>
              <a:t>準備と変更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 smtClean="0"/>
              <a:t>Lib</a:t>
            </a:r>
            <a:r>
              <a:rPr lang="ja-JP" altLang="en-US" dirty="0" smtClean="0"/>
              <a:t>ファイル（組み込み済み）</a:t>
            </a:r>
            <a:endParaRPr lang="en-US" altLang="ja-JP" dirty="0" smtClean="0"/>
          </a:p>
          <a:p>
            <a:pPr lvl="1"/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bin/isense.dll</a:t>
            </a:r>
          </a:p>
          <a:p>
            <a:pPr lvl="1"/>
            <a:endParaRPr lang="en-US" altLang="ja-JP" b="1" u="sng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ja-JP" altLang="en-US" dirty="0" smtClean="0"/>
              <a:t>ヘッダファイル（組み込み済み）</a:t>
            </a:r>
            <a:endParaRPr lang="en-US" altLang="ja-JP" dirty="0" smtClean="0"/>
          </a:p>
          <a:p>
            <a:pPr lvl="1"/>
            <a:r>
              <a:rPr lang="en-US" altLang="ja-JP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ja-JP" b="1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nclulde</a:t>
            </a:r>
            <a:r>
              <a:rPr lang="en-US" altLang="ja-JP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ja-JP" b="1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isense.h</a:t>
            </a:r>
            <a:endParaRPr lang="en-US" altLang="ja-JP" b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ja-JP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kumimoji="1" lang="en-US" altLang="ja-JP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nclude/</a:t>
            </a:r>
            <a:r>
              <a:rPr kumimoji="1" lang="en-US" altLang="ja-JP" b="1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gyro.h</a:t>
            </a:r>
            <a:endParaRPr kumimoji="1" lang="en-US" altLang="ja-JP" b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altLang="ja-JP" dirty="0"/>
          </a:p>
          <a:p>
            <a:r>
              <a:rPr lang="ja-JP" altLang="en-US" dirty="0" smtClean="0"/>
              <a:t>ソースファイル（組み込み済み）</a:t>
            </a:r>
            <a:endParaRPr lang="en-US" altLang="ja-JP" dirty="0" smtClean="0"/>
          </a:p>
          <a:p>
            <a:pPr lvl="1"/>
            <a:r>
              <a:rPr lang="en-US" altLang="ja-JP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altLang="ja-JP" b="1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</a:t>
            </a:r>
            <a:r>
              <a:rPr lang="en-US" altLang="ja-JP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ja-JP" b="1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isense.c</a:t>
            </a:r>
            <a:endParaRPr lang="en-US" altLang="ja-JP" b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ja-JP" b="1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kumimoji="1" lang="en-US" altLang="ja-JP" b="1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</a:t>
            </a:r>
            <a:r>
              <a:rPr kumimoji="1" lang="en-US" altLang="ja-JP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/gyro.cpp</a:t>
            </a:r>
          </a:p>
          <a:p>
            <a:pPr lvl="1"/>
            <a:endParaRPr kumimoji="1" lang="en-US" altLang="ja-JP" dirty="0" smtClean="0"/>
          </a:p>
          <a:p>
            <a:r>
              <a:rPr lang="en-US" altLang="ja-JP" dirty="0" smtClean="0"/>
              <a:t>Sim.cpp</a:t>
            </a:r>
          </a:p>
          <a:p>
            <a:pPr lvl="1"/>
            <a:r>
              <a:rPr lang="en-US" altLang="ja-JP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“</a:t>
            </a:r>
            <a:r>
              <a:rPr lang="en-US" altLang="ja-JP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gyro.h</a:t>
            </a:r>
            <a:r>
              <a:rPr lang="en-US" altLang="ja-JP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</a:p>
          <a:p>
            <a:pPr lvl="1"/>
            <a:endParaRPr lang="en-US" altLang="ja-JP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kumimoji="1" lang="en-US" altLang="ja-JP" dirty="0" err="1" smtClean="0"/>
              <a:t>InitScene</a:t>
            </a:r>
            <a:r>
              <a:rPr lang="en-US" altLang="ja-JP" dirty="0" smtClean="0"/>
              <a:t>/sim.cpp</a:t>
            </a:r>
            <a:endParaRPr kumimoji="1" lang="en-US" altLang="ja-JP" dirty="0" smtClean="0"/>
          </a:p>
          <a:p>
            <a:pPr lvl="1"/>
            <a:r>
              <a:rPr lang="en-US" altLang="ja-JP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InitGyro</a:t>
            </a:r>
            <a:r>
              <a:rPr lang="en-US" altLang="ja-JP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  <a:endParaRPr lang="en-US" altLang="ja-JP" u="sng" dirty="0"/>
          </a:p>
        </p:txBody>
      </p:sp>
    </p:spTree>
    <p:extLst>
      <p:ext uri="{BB962C8B-B14F-4D97-AF65-F5344CB8AC3E}">
        <p14:creationId xmlns:p14="http://schemas.microsoft.com/office/powerpoint/2010/main" val="2721356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プログラムの変更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UpdateScene</a:t>
            </a:r>
            <a:r>
              <a:rPr lang="en-US" altLang="ja-JP" dirty="0"/>
              <a:t>/sim.cpp</a:t>
            </a:r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float rot[3];</a:t>
            </a:r>
          </a:p>
          <a:p>
            <a:pPr lvl="1"/>
            <a:r>
              <a:rPr lang="en-US" altLang="ja-JP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UpdateGyro</a:t>
            </a:r>
            <a:r>
              <a:rPr lang="en-US" altLang="ja-JP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(rot);</a:t>
            </a:r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//</a:t>
            </a:r>
            <a:r>
              <a:rPr lang="ja-JP" altLang="en-US" dirty="0">
                <a:solidFill>
                  <a:srgbClr val="FF0000"/>
                </a:solidFill>
              </a:rPr>
              <a:t>左右に傾けると左右旋回</a:t>
            </a:r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if (rot[0] &gt; 5) </a:t>
            </a:r>
            <a:r>
              <a:rPr lang="en-US" altLang="ja-JP" dirty="0" err="1">
                <a:solidFill>
                  <a:srgbClr val="FF0000"/>
                </a:solidFill>
              </a:rPr>
              <a:t>simdata.player.turn</a:t>
            </a:r>
            <a:r>
              <a:rPr lang="en-US" altLang="ja-JP" dirty="0">
                <a:solidFill>
                  <a:srgbClr val="FF0000"/>
                </a:solidFill>
              </a:rPr>
              <a:t> = (rot[0] - 5) * 0.0125;</a:t>
            </a:r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if (rot[0] &lt; -5) </a:t>
            </a:r>
            <a:r>
              <a:rPr lang="en-US" altLang="ja-JP" dirty="0" err="1">
                <a:solidFill>
                  <a:srgbClr val="FF0000"/>
                </a:solidFill>
              </a:rPr>
              <a:t>simdata.player.turn</a:t>
            </a:r>
            <a:r>
              <a:rPr lang="en-US" altLang="ja-JP" dirty="0">
                <a:solidFill>
                  <a:srgbClr val="FF0000"/>
                </a:solidFill>
              </a:rPr>
              <a:t> = (rot[0] + 5) * 0.0125;</a:t>
            </a:r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//</a:t>
            </a:r>
            <a:r>
              <a:rPr lang="ja-JP" altLang="en-US" dirty="0">
                <a:solidFill>
                  <a:srgbClr val="FF0000"/>
                </a:solidFill>
              </a:rPr>
              <a:t>前後に傾けると前進後退</a:t>
            </a:r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if (rot[1] &lt; -5) </a:t>
            </a:r>
            <a:r>
              <a:rPr lang="en-US" altLang="ja-JP" dirty="0" err="1">
                <a:solidFill>
                  <a:srgbClr val="FF0000"/>
                </a:solidFill>
              </a:rPr>
              <a:t>simdata.player.move</a:t>
            </a:r>
            <a:r>
              <a:rPr lang="en-US" altLang="ja-JP" dirty="0">
                <a:solidFill>
                  <a:srgbClr val="FF0000"/>
                </a:solidFill>
              </a:rPr>
              <a:t> = -(rot[1] + 5) * 0.0025;</a:t>
            </a:r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if (rot[1] &gt; 5) </a:t>
            </a:r>
            <a:r>
              <a:rPr lang="en-US" altLang="ja-JP" dirty="0" err="1">
                <a:solidFill>
                  <a:srgbClr val="FF0000"/>
                </a:solidFill>
              </a:rPr>
              <a:t>simdata.player.move</a:t>
            </a:r>
            <a:r>
              <a:rPr lang="en-US" altLang="ja-JP" dirty="0">
                <a:solidFill>
                  <a:srgbClr val="FF0000"/>
                </a:solidFill>
              </a:rPr>
              <a:t> = -(rot[1] - 5) * 0.0025;</a:t>
            </a:r>
          </a:p>
          <a:p>
            <a:pPr lvl="1"/>
            <a:r>
              <a:rPr lang="en-US" altLang="ja-JP" dirty="0" err="1">
                <a:solidFill>
                  <a:srgbClr val="00B050"/>
                </a:solidFill>
              </a:rPr>
              <a:t>MoveObject</a:t>
            </a:r>
            <a:r>
              <a:rPr lang="en-US" altLang="ja-JP" dirty="0">
                <a:solidFill>
                  <a:srgbClr val="00B050"/>
                </a:solidFill>
              </a:rPr>
              <a:t>(&amp;</a:t>
            </a:r>
            <a:r>
              <a:rPr lang="en-US" altLang="ja-JP" dirty="0" err="1">
                <a:solidFill>
                  <a:srgbClr val="00B050"/>
                </a:solidFill>
              </a:rPr>
              <a:t>simdata.player</a:t>
            </a:r>
            <a:r>
              <a:rPr lang="en-US" altLang="ja-JP" dirty="0" smtClean="0">
                <a:solidFill>
                  <a:srgbClr val="00B050"/>
                </a:solidFill>
              </a:rPr>
              <a:t>);</a:t>
            </a:r>
          </a:p>
          <a:p>
            <a:pPr lvl="1"/>
            <a:endParaRPr lang="en-US" altLang="ja-JP" dirty="0">
              <a:solidFill>
                <a:srgbClr val="00B050"/>
              </a:solidFill>
            </a:endParaRPr>
          </a:p>
          <a:p>
            <a:r>
              <a:rPr lang="en-US" altLang="ja-JP" dirty="0" err="1"/>
              <a:t>TermScene</a:t>
            </a:r>
            <a:r>
              <a:rPr lang="en-US" altLang="ja-JP" dirty="0"/>
              <a:t>/sim.cpp</a:t>
            </a:r>
          </a:p>
          <a:p>
            <a:pPr lvl="1"/>
            <a:r>
              <a:rPr lang="en-US" altLang="ja-JP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TermGyro</a:t>
            </a:r>
            <a:r>
              <a:rPr lang="en-US" altLang="ja-JP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lvl="1"/>
            <a:endParaRPr lang="en-US" altLang="ja-JP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ja-JP" altLang="en-US" dirty="0" smtClean="0"/>
              <a:t>キーボードコールバックなどで方位角リセット</a:t>
            </a:r>
            <a:endParaRPr lang="en-US" altLang="ja-JP" dirty="0" smtClean="0"/>
          </a:p>
          <a:p>
            <a:pPr lvl="1"/>
            <a:r>
              <a:rPr lang="en-US" altLang="ja-JP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ResetGyro</a:t>
            </a:r>
            <a:r>
              <a:rPr lang="en-US" altLang="ja-JP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  <a:endParaRPr kumimoji="1" lang="ja-JP" altLang="en-US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19055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Arduino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8068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デバイスの準備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Arduino</a:t>
            </a:r>
            <a:r>
              <a:rPr lang="ja-JP" altLang="en-US" dirty="0" smtClean="0"/>
              <a:t>各種ボード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>
                <a:solidFill>
                  <a:srgbClr val="FF0000"/>
                </a:solidFill>
              </a:rPr>
              <a:t>Arduino</a:t>
            </a:r>
            <a:r>
              <a:rPr lang="ja-JP" altLang="en-US" dirty="0" smtClean="0">
                <a:solidFill>
                  <a:srgbClr val="FF0000"/>
                </a:solidFill>
              </a:rPr>
              <a:t>を</a:t>
            </a:r>
            <a:r>
              <a:rPr kumimoji="1" lang="ja-JP" altLang="en-US" dirty="0" smtClean="0">
                <a:solidFill>
                  <a:srgbClr val="FF0000"/>
                </a:solidFill>
              </a:rPr>
              <a:t>単体で使える知識があることが前提</a:t>
            </a:r>
            <a:endParaRPr kumimoji="1" lang="en-US" altLang="ja-JP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209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プログラムの準備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SerialIO.h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11739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プログラムの修正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#include </a:t>
            </a:r>
            <a:r>
              <a:rPr lang="en-US" altLang="ja-JP" dirty="0" smtClean="0"/>
              <a:t>“</a:t>
            </a:r>
            <a:r>
              <a:rPr lang="en-US" altLang="ja-JP" dirty="0" err="1" smtClean="0"/>
              <a:t>SerialIO.h</a:t>
            </a:r>
            <a:r>
              <a:rPr lang="en-US" altLang="ja-JP" dirty="0" smtClean="0"/>
              <a:t>”;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smtClean="0"/>
              <a:t>HANDLE </a:t>
            </a:r>
            <a:r>
              <a:rPr lang="en-US" altLang="ja-JP" dirty="0" smtClean="0"/>
              <a:t>com;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err="1"/>
              <a:t>I</a:t>
            </a:r>
            <a:r>
              <a:rPr kumimoji="1" lang="en-US" altLang="ja-JP" dirty="0" err="1" smtClean="0"/>
              <a:t>nitScene</a:t>
            </a:r>
            <a:r>
              <a:rPr kumimoji="1" lang="en-US" altLang="ja-JP" dirty="0" smtClean="0"/>
              <a:t>/sim.cpp</a:t>
            </a:r>
            <a:endParaRPr lang="en-US" altLang="ja-JP" dirty="0"/>
          </a:p>
          <a:p>
            <a:r>
              <a:rPr lang="en-US" altLang="ja-JP" dirty="0" smtClean="0"/>
              <a:t>com </a:t>
            </a:r>
            <a:r>
              <a:rPr lang="en-US" altLang="ja-JP" dirty="0"/>
              <a:t>= </a:t>
            </a:r>
            <a:r>
              <a:rPr lang="en-US" altLang="ja-JP" dirty="0" err="1"/>
              <a:t>ComInit</a:t>
            </a:r>
            <a:r>
              <a:rPr lang="en-US" altLang="ja-JP" dirty="0"/>
              <a:t>("COM4", 38400</a:t>
            </a:r>
            <a:r>
              <a:rPr lang="en-US" altLang="ja-JP" dirty="0" smtClean="0"/>
              <a:t>);</a:t>
            </a:r>
          </a:p>
          <a:p>
            <a:endParaRPr lang="en-US" altLang="ja-JP" dirty="0"/>
          </a:p>
          <a:p>
            <a:r>
              <a:rPr lang="en-US" altLang="ja-JP" dirty="0" err="1" smtClean="0"/>
              <a:t>TermScene</a:t>
            </a:r>
            <a:r>
              <a:rPr lang="en-US" altLang="ja-JP" dirty="0" smtClean="0"/>
              <a:t>/sim.cpp</a:t>
            </a:r>
          </a:p>
          <a:p>
            <a:r>
              <a:rPr lang="en-US" altLang="ja-JP" dirty="0" err="1" smtClean="0"/>
              <a:t>ComEnd</a:t>
            </a:r>
            <a:r>
              <a:rPr lang="en-US" altLang="ja-JP" dirty="0" smtClean="0"/>
              <a:t>(com);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5470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 smtClean="0"/>
              <a:t>{</a:t>
            </a:r>
            <a:endParaRPr lang="en-US" altLang="ja-JP" dirty="0"/>
          </a:p>
          <a:p>
            <a:r>
              <a:rPr lang="en-US" altLang="ja-JP" dirty="0" smtClean="0"/>
              <a:t>  unsigned </a:t>
            </a:r>
            <a:r>
              <a:rPr lang="en-US" altLang="ja-JP" dirty="0"/>
              <a:t>char buffer[10000];</a:t>
            </a:r>
          </a:p>
          <a:p>
            <a:r>
              <a:rPr lang="en-US" altLang="ja-JP" dirty="0" smtClean="0"/>
              <a:t>  </a:t>
            </a:r>
            <a:r>
              <a:rPr lang="en-US" altLang="ja-JP" dirty="0" err="1" smtClean="0"/>
              <a:t>int</a:t>
            </a:r>
            <a:r>
              <a:rPr lang="en-US" altLang="ja-JP" dirty="0" smtClean="0"/>
              <a:t> </a:t>
            </a:r>
            <a:r>
              <a:rPr lang="en-US" altLang="ja-JP" dirty="0" err="1"/>
              <a:t>in_n</a:t>
            </a:r>
            <a:r>
              <a:rPr lang="en-US" altLang="ja-JP" dirty="0"/>
              <a:t>;</a:t>
            </a:r>
          </a:p>
          <a:p>
            <a:r>
              <a:rPr lang="pt-BR" altLang="ja-JP" dirty="0" smtClean="0"/>
              <a:t>  in_n </a:t>
            </a:r>
            <a:r>
              <a:rPr lang="pt-BR" altLang="ja-JP" dirty="0"/>
              <a:t>= ReadData(com, (char*)buffer, 6, 1000);</a:t>
            </a:r>
          </a:p>
          <a:p>
            <a:r>
              <a:rPr lang="en-US" altLang="ja-JP" dirty="0" smtClean="0"/>
              <a:t>  float </a:t>
            </a:r>
            <a:r>
              <a:rPr lang="en-US" altLang="ja-JP" dirty="0"/>
              <a:t>value[6];</a:t>
            </a:r>
          </a:p>
          <a:p>
            <a:endParaRPr lang="ja-JP" altLang="en-US" dirty="0"/>
          </a:p>
          <a:p>
            <a:r>
              <a:rPr lang="en-US" altLang="ja-JP" dirty="0" smtClean="0"/>
              <a:t>  if </a:t>
            </a:r>
            <a:r>
              <a:rPr lang="en-US" altLang="ja-JP" dirty="0"/>
              <a:t>(</a:t>
            </a:r>
            <a:r>
              <a:rPr lang="en-US" altLang="ja-JP" dirty="0" err="1"/>
              <a:t>in_n</a:t>
            </a:r>
            <a:r>
              <a:rPr lang="en-US" altLang="ja-JP" dirty="0"/>
              <a:t> &gt; 0) {</a:t>
            </a:r>
          </a:p>
          <a:p>
            <a:r>
              <a:rPr lang="nn-NO" altLang="ja-JP" dirty="0" smtClean="0"/>
              <a:t>    for </a:t>
            </a:r>
            <a:r>
              <a:rPr lang="nn-NO" altLang="ja-JP" dirty="0"/>
              <a:t>(int i = 0; i &lt; in_n; i++) {</a:t>
            </a:r>
          </a:p>
          <a:p>
            <a:r>
              <a:rPr lang="en-US" altLang="ja-JP" dirty="0" smtClean="0"/>
              <a:t>      unsigned </a:t>
            </a:r>
            <a:r>
              <a:rPr lang="en-US" altLang="ja-JP" dirty="0"/>
              <a:t>char </a:t>
            </a:r>
            <a:r>
              <a:rPr lang="en-US" altLang="ja-JP" dirty="0" err="1"/>
              <a:t>rxdata</a:t>
            </a:r>
            <a:r>
              <a:rPr lang="en-US" altLang="ja-JP" dirty="0"/>
              <a:t> = buffer[</a:t>
            </a:r>
            <a:r>
              <a:rPr lang="en-US" altLang="ja-JP" dirty="0" err="1"/>
              <a:t>i</a:t>
            </a:r>
            <a:r>
              <a:rPr lang="en-US" altLang="ja-JP" dirty="0"/>
              <a:t>];</a:t>
            </a:r>
          </a:p>
          <a:p>
            <a:r>
              <a:rPr lang="en-US" altLang="ja-JP" dirty="0" smtClean="0"/>
              <a:t>      </a:t>
            </a:r>
            <a:r>
              <a:rPr lang="en-US" altLang="ja-JP" dirty="0" err="1" smtClean="0"/>
              <a:t>int</a:t>
            </a:r>
            <a:r>
              <a:rPr lang="en-US" altLang="ja-JP" dirty="0" smtClean="0"/>
              <a:t> </a:t>
            </a:r>
            <a:r>
              <a:rPr lang="en-US" altLang="ja-JP" dirty="0"/>
              <a:t>id = </a:t>
            </a:r>
            <a:r>
              <a:rPr lang="en-US" altLang="ja-JP" dirty="0" err="1"/>
              <a:t>DevicePart</a:t>
            </a:r>
            <a:r>
              <a:rPr lang="en-US" altLang="ja-JP" dirty="0"/>
              <a:t>(</a:t>
            </a:r>
            <a:r>
              <a:rPr lang="en-US" altLang="ja-JP" dirty="0" err="1"/>
              <a:t>rxdata</a:t>
            </a:r>
            <a:r>
              <a:rPr lang="en-US" altLang="ja-JP" dirty="0"/>
              <a:t>);</a:t>
            </a:r>
          </a:p>
          <a:p>
            <a:r>
              <a:rPr lang="en-US" altLang="ja-JP" dirty="0" smtClean="0"/>
              <a:t>      value[id</a:t>
            </a:r>
            <a:r>
              <a:rPr lang="en-US" altLang="ja-JP" dirty="0"/>
              <a:t>] = </a:t>
            </a:r>
            <a:r>
              <a:rPr lang="en-US" altLang="ja-JP" dirty="0" err="1"/>
              <a:t>ValuePart</a:t>
            </a:r>
            <a:r>
              <a:rPr lang="en-US" altLang="ja-JP" dirty="0"/>
              <a:t>(</a:t>
            </a:r>
            <a:r>
              <a:rPr lang="en-US" altLang="ja-JP" dirty="0" err="1"/>
              <a:t>rxdata</a:t>
            </a:r>
            <a:r>
              <a:rPr lang="en-US" altLang="ja-JP" dirty="0"/>
              <a:t>);</a:t>
            </a:r>
          </a:p>
          <a:p>
            <a:r>
              <a:rPr lang="en-US" altLang="ja-JP" dirty="0" smtClean="0"/>
              <a:t>      //</a:t>
            </a:r>
            <a:r>
              <a:rPr lang="en-US" altLang="ja-JP" dirty="0" err="1"/>
              <a:t>printf</a:t>
            </a:r>
            <a:r>
              <a:rPr lang="en-US" altLang="ja-JP" dirty="0"/>
              <a:t>("READ DATA = %d/%f\n", id, value[id]);</a:t>
            </a:r>
          </a:p>
          <a:p>
            <a:r>
              <a:rPr lang="en-US" altLang="ja-JP" dirty="0" smtClean="0"/>
              <a:t>    }</a:t>
            </a:r>
            <a:endParaRPr lang="en-US" altLang="ja-JP" dirty="0"/>
          </a:p>
          <a:p>
            <a:r>
              <a:rPr lang="en-US" altLang="ja-JP" dirty="0" smtClean="0"/>
              <a:t>    unsigned </a:t>
            </a:r>
            <a:r>
              <a:rPr lang="en-US" altLang="ja-JP" dirty="0"/>
              <a:t>char </a:t>
            </a:r>
            <a:r>
              <a:rPr lang="en-US" altLang="ja-JP" dirty="0" err="1"/>
              <a:t>txdata</a:t>
            </a:r>
            <a:r>
              <a:rPr lang="en-US" altLang="ja-JP" dirty="0"/>
              <a:t>[6];</a:t>
            </a:r>
          </a:p>
          <a:p>
            <a:r>
              <a:rPr lang="nn-NO" altLang="ja-JP" dirty="0" smtClean="0"/>
              <a:t>    for </a:t>
            </a:r>
            <a:r>
              <a:rPr lang="nn-NO" altLang="ja-JP" dirty="0"/>
              <a:t>(int i = 0; i &lt; 6; i++) {</a:t>
            </a:r>
          </a:p>
          <a:p>
            <a:r>
              <a:rPr lang="en-US" altLang="ja-JP" dirty="0" smtClean="0"/>
              <a:t>      </a:t>
            </a:r>
            <a:r>
              <a:rPr lang="en-US" altLang="ja-JP" dirty="0" err="1" smtClean="0"/>
              <a:t>txdata</a:t>
            </a:r>
            <a:r>
              <a:rPr lang="en-US" altLang="ja-JP" dirty="0" smtClean="0"/>
              <a:t>[</a:t>
            </a:r>
            <a:r>
              <a:rPr lang="en-US" altLang="ja-JP" dirty="0" err="1" smtClean="0"/>
              <a:t>i</a:t>
            </a:r>
            <a:r>
              <a:rPr lang="en-US" altLang="ja-JP" dirty="0"/>
              <a:t>] = (</a:t>
            </a:r>
            <a:r>
              <a:rPr lang="en-US" altLang="ja-JP" dirty="0" err="1"/>
              <a:t>i</a:t>
            </a:r>
            <a:r>
              <a:rPr lang="en-US" altLang="ja-JP" dirty="0"/>
              <a:t> &lt;&lt; 5) | (unsigned char)( value[</a:t>
            </a:r>
            <a:r>
              <a:rPr lang="en-US" altLang="ja-JP" dirty="0" err="1"/>
              <a:t>i</a:t>
            </a:r>
            <a:r>
              <a:rPr lang="en-US" altLang="ja-JP" dirty="0"/>
              <a:t>] * 31.0);</a:t>
            </a:r>
          </a:p>
          <a:p>
            <a:r>
              <a:rPr lang="en-US" altLang="ja-JP" dirty="0" smtClean="0"/>
              <a:t>    }</a:t>
            </a:r>
            <a:endParaRPr lang="en-US" altLang="ja-JP" dirty="0"/>
          </a:p>
          <a:p>
            <a:r>
              <a:rPr lang="en-US" altLang="ja-JP" dirty="0" smtClean="0"/>
              <a:t>    </a:t>
            </a:r>
            <a:r>
              <a:rPr lang="en-US" altLang="ja-JP" dirty="0" err="1" smtClean="0"/>
              <a:t>WriteData</a:t>
            </a:r>
            <a:r>
              <a:rPr lang="en-US" altLang="ja-JP" dirty="0" smtClean="0"/>
              <a:t>(com</a:t>
            </a:r>
            <a:r>
              <a:rPr lang="en-US" altLang="ja-JP" dirty="0"/>
              <a:t>, (char *)</a:t>
            </a:r>
            <a:r>
              <a:rPr lang="en-US" altLang="ja-JP" dirty="0" err="1"/>
              <a:t>txdata</a:t>
            </a:r>
            <a:r>
              <a:rPr lang="en-US" altLang="ja-JP" dirty="0"/>
              <a:t>, 6);</a:t>
            </a:r>
          </a:p>
          <a:p>
            <a:r>
              <a:rPr lang="en-US" altLang="ja-JP" dirty="0" smtClean="0"/>
              <a:t>  }</a:t>
            </a:r>
            <a:endParaRPr lang="en-US" altLang="ja-JP" dirty="0"/>
          </a:p>
          <a:p>
            <a:r>
              <a:rPr lang="en-US" altLang="ja-JP" dirty="0" smtClean="0"/>
              <a:t>}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4545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画像を取り扱う～</a:t>
            </a:r>
            <a:r>
              <a:rPr kumimoji="1" lang="en-US" altLang="ja-JP" dirty="0" err="1" smtClean="0"/>
              <a:t>ezImage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308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プログラムの準備（組み込み済）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ヘッダファイル</a:t>
            </a:r>
            <a:endParaRPr kumimoji="1" lang="en-US" altLang="ja-JP" dirty="0" smtClean="0"/>
          </a:p>
          <a:p>
            <a:pPr lvl="1"/>
            <a:r>
              <a:rPr lang="en-US" altLang="ja-JP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nclude/</a:t>
            </a:r>
            <a:r>
              <a:rPr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ezImage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ezJpeg.h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ezWebCam.h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ezMovie.h</a:t>
            </a:r>
            <a:r>
              <a:rPr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image.h</a:t>
            </a:r>
            <a:endParaRPr lang="en-US" altLang="ja-JP" b="1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kumimoji="1" lang="en-US" altLang="ja-JP" dirty="0" smtClean="0"/>
          </a:p>
          <a:p>
            <a:r>
              <a:rPr lang="ja-JP" altLang="en-US" dirty="0" smtClean="0"/>
              <a:t>ソースファイル</a:t>
            </a:r>
            <a:endParaRPr lang="en-US" altLang="ja-JP" dirty="0" smtClean="0"/>
          </a:p>
          <a:p>
            <a:pPr lvl="1"/>
            <a:r>
              <a:rPr lang="en-US" altLang="ja-JP" b="1" u="sng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kumimoji="1"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</a:t>
            </a:r>
            <a:r>
              <a:rPr kumimoji="1"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kumimoji="1" lang="en-US" altLang="ja-JP" b="1" u="sng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ezImage</a:t>
            </a:r>
            <a:r>
              <a:rPr kumimoji="1" lang="en-US" altLang="ja-JP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/ezJpeg.cpp, ezPNG.cpp, ezWebCam.cpp, image.cpp</a:t>
            </a:r>
          </a:p>
          <a:p>
            <a:pPr lvl="1"/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0762669"/>
      </p:ext>
    </p:extLst>
  </p:cSld>
  <p:clrMapOvr>
    <a:masterClrMapping/>
  </p:clrMapOvr>
</p:sld>
</file>

<file path=ppt/theme/theme1.xml><?xml version="1.0" encoding="utf-8"?>
<a:theme xmlns:a="http://schemas.openxmlformats.org/drawingml/2006/main" name="iCGワークシート（マスタ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iCG学習スライド2025</Template>
  <TotalTime>2515</TotalTime>
  <Words>1614</Words>
  <Application>Microsoft Office PowerPoint</Application>
  <PresentationFormat>ワイド画面</PresentationFormat>
  <Paragraphs>307</Paragraphs>
  <Slides>35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3" baseType="lpstr">
      <vt:lpstr>ＭＳ Ｐゴシック</vt:lpstr>
      <vt:lpstr>ＭＳ ゴシック</vt:lpstr>
      <vt:lpstr>游ゴシック</vt:lpstr>
      <vt:lpstr>Arial</vt:lpstr>
      <vt:lpstr>Calibri</vt:lpstr>
      <vt:lpstr>Consolas</vt:lpstr>
      <vt:lpstr>Wingdings</vt:lpstr>
      <vt:lpstr>iCGワークシート（マスタ）</vt:lpstr>
      <vt:lpstr>iVR基本プログラム オプション機能の使い方</vt:lpstr>
      <vt:lpstr>メニュー</vt:lpstr>
      <vt:lpstr>PowerPoint プレゼンテーション</vt:lpstr>
      <vt:lpstr>iPhoneのセンサを使う～ezZigSim</vt:lpstr>
      <vt:lpstr>iPhone ZIGSIM アプりの準備</vt:lpstr>
      <vt:lpstr>ZIG SIMで使いたいセンサを選択する</vt:lpstr>
      <vt:lpstr>センシングループを起動する</vt:lpstr>
      <vt:lpstr>iVRプログラムの起動</vt:lpstr>
      <vt:lpstr>iVR基本プログラムの改造（参考実施済）</vt:lpstr>
      <vt:lpstr>参考としてデフォルトで設定してある機能：移動</vt:lpstr>
      <vt:lpstr>センサデータの使い方～いろいろ使ってみよう</vt:lpstr>
      <vt:lpstr>ジャイロセンサを使う～ezGyro</vt:lpstr>
      <vt:lpstr>センサモジュールの準備</vt:lpstr>
      <vt:lpstr>iVR基本プログラムの改造（参考実施済）</vt:lpstr>
      <vt:lpstr>参考としてデフォルトで設定してある機能：移動</vt:lpstr>
      <vt:lpstr>PCのカメラを使う～ezCamera</vt:lpstr>
      <vt:lpstr>カメラデバイス名を確認する</vt:lpstr>
      <vt:lpstr>iVR基本プログラムの準備</vt:lpstr>
      <vt:lpstr>iVR基本プログラムの実行～カメラ設定パネル</vt:lpstr>
      <vt:lpstr>カメラ設定パネル～カメラ制御タブ</vt:lpstr>
      <vt:lpstr>カメラで撮影した画像をファイルに保存する方法</vt:lpstr>
      <vt:lpstr>サウンドを使う～OpenAL</vt:lpstr>
      <vt:lpstr>ソフトウェアのインストール（済）</vt:lpstr>
      <vt:lpstr>PowerPoint プレゼンテーション</vt:lpstr>
      <vt:lpstr>InertiaCubeを使う～VRジャイロ</vt:lpstr>
      <vt:lpstr>デバイスの準備</vt:lpstr>
      <vt:lpstr>プログラムの準備と変更</vt:lpstr>
      <vt:lpstr>プログラムの変更</vt:lpstr>
      <vt:lpstr>Arduino</vt:lpstr>
      <vt:lpstr>デバイスの準備</vt:lpstr>
      <vt:lpstr>プログラムの準備</vt:lpstr>
      <vt:lpstr>プログラムの修正</vt:lpstr>
      <vt:lpstr>PowerPoint プレゼンテーション</vt:lpstr>
      <vt:lpstr>画像を取り扱う～ezImage</vt:lpstr>
      <vt:lpstr>プログラムの準備（組み込み済）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iVR基本プログラム 機能オプションの使い方</dc:title>
  <dc:creator>Microsoft アカウント</dc:creator>
  <cp:lastModifiedBy>vruser</cp:lastModifiedBy>
  <cp:revision>68</cp:revision>
  <dcterms:created xsi:type="dcterms:W3CDTF">2025-07-28T04:16:31Z</dcterms:created>
  <dcterms:modified xsi:type="dcterms:W3CDTF">2025-09-15T14:44:59Z</dcterms:modified>
</cp:coreProperties>
</file>